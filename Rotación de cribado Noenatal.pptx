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9"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0" r:id="rId24"/>
    <p:sldId id="277" r:id="rId25"/>
    <p:sldId id="281" r:id="rId26"/>
    <p:sldId id="278" r:id="rId2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8E8457-8AE2-45FB-9F5C-6BC26EA3377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0FAC2256-60FE-415B-9A17-F3B9BD9CAC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FA3E60E-E58D-4392-8488-2BA0840EF23D}"/>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5" name="Marcador de pie de página 4">
            <a:extLst>
              <a:ext uri="{FF2B5EF4-FFF2-40B4-BE49-F238E27FC236}">
                <a16:creationId xmlns:a16="http://schemas.microsoft.com/office/drawing/2014/main" id="{368D2D8F-4B8E-4ADB-BD1B-AA16A547718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B599AB5-2246-432F-A6F9-820DB347E70B}"/>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731001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C0BE38-2638-4E96-9701-6455311B30E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AFE0AA4-C518-4541-A2F3-60C6B161A56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850547EE-995B-4194-98F8-92AB118EA8F6}"/>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5" name="Marcador de pie de página 4">
            <a:extLst>
              <a:ext uri="{FF2B5EF4-FFF2-40B4-BE49-F238E27FC236}">
                <a16:creationId xmlns:a16="http://schemas.microsoft.com/office/drawing/2014/main" id="{4F9794E6-35F0-4016-AF2C-78B283C3DC6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6C9CD8B-7D36-4AEA-A9E5-B8D781CA3A4C}"/>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3748186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FEE6F8-401F-4B24-97FD-993C0D5EE92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7B39C7-D7F0-4D0B-94E7-400DF38A11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668ABF59-5835-4494-BA78-A5EC146F4214}"/>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5" name="Marcador de pie de página 4">
            <a:extLst>
              <a:ext uri="{FF2B5EF4-FFF2-40B4-BE49-F238E27FC236}">
                <a16:creationId xmlns:a16="http://schemas.microsoft.com/office/drawing/2014/main" id="{A3FA7E4E-9CE4-49FB-834C-F30E1AD31A8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B2B4591-6A5E-427D-A4BA-539CAB868E55}"/>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70089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C445DB-6F7C-49A5-9332-A32D9E236E1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2D46B47-FB74-408E-911F-BEB7935AFA3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394DE63-EC2F-4B70-82E6-4BE2ADBABE4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6588B54-4C35-4F41-BD35-7C1C08BF0B37}"/>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6" name="Marcador de pie de página 5">
            <a:extLst>
              <a:ext uri="{FF2B5EF4-FFF2-40B4-BE49-F238E27FC236}">
                <a16:creationId xmlns:a16="http://schemas.microsoft.com/office/drawing/2014/main" id="{DA6E5EAB-FB05-4218-873A-403A76940E3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A22E9D0-8F79-4554-B254-F891A36AD352}"/>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2167968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D5BCE7-B7CC-4280-8E29-F63ADE854DD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B5838E82-9C5C-461F-B6E1-ACD46AFDEC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005647C-00F8-4851-A18B-783FAB2B22F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522059F2-F8AD-4BA3-AB31-967BFF28EA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8742F68-BF0A-4CC5-B4F4-31EE0A47826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0561272-9387-4D2B-A497-ECBD5580BB02}"/>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8" name="Marcador de pie de página 7">
            <a:extLst>
              <a:ext uri="{FF2B5EF4-FFF2-40B4-BE49-F238E27FC236}">
                <a16:creationId xmlns:a16="http://schemas.microsoft.com/office/drawing/2014/main" id="{C2D014BB-BFCD-4D87-89EA-C936F99245B9}"/>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B0A23EAD-D4A1-429B-AC77-7370A02998E7}"/>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475879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1AD0F-5432-463B-99AC-9CB71FC924E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AC777A19-1172-4000-B6EF-DAA821279561}"/>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4" name="Marcador de pie de página 3">
            <a:extLst>
              <a:ext uri="{FF2B5EF4-FFF2-40B4-BE49-F238E27FC236}">
                <a16:creationId xmlns:a16="http://schemas.microsoft.com/office/drawing/2014/main" id="{FEA5005C-6F5F-4E74-9CC8-05F4B42B156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05104BA7-5DB2-4CA9-AE2A-10D6FA8409AD}"/>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1120331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1AC9E23-33E1-4155-8E6B-EF9F7C2089A6}"/>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3" name="Marcador de pie de página 2">
            <a:extLst>
              <a:ext uri="{FF2B5EF4-FFF2-40B4-BE49-F238E27FC236}">
                <a16:creationId xmlns:a16="http://schemas.microsoft.com/office/drawing/2014/main" id="{5797B2E5-C6AB-4958-97E4-D99F3D600E1C}"/>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D257AC47-F757-44E5-827F-945D1AB8AB7B}"/>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4103265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E42EE8-DAB6-412F-825C-B92F15A6317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F950FE2-4A1E-49B1-8E18-EB739D00DA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F6E250F-DEDD-4645-B61B-D2179A433D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E0F67D5-50CA-43AE-A3C7-0BBC9EAACEE7}"/>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6" name="Marcador de pie de página 5">
            <a:extLst>
              <a:ext uri="{FF2B5EF4-FFF2-40B4-BE49-F238E27FC236}">
                <a16:creationId xmlns:a16="http://schemas.microsoft.com/office/drawing/2014/main" id="{B4DA8346-3FF6-404A-98CB-1484DBCD44C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0D5FE18-2869-46A8-AFDF-85B86D1E8AAD}"/>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1089199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9A6086-7671-4157-8742-79CF36BFBA6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94A72DB-BAAE-4AE2-8E88-7A561ED197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1BDBF042-92AC-4474-8097-6ADF846B0D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32906EC-0844-48ED-A34D-227B9A371A05}"/>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6" name="Marcador de pie de página 5">
            <a:extLst>
              <a:ext uri="{FF2B5EF4-FFF2-40B4-BE49-F238E27FC236}">
                <a16:creationId xmlns:a16="http://schemas.microsoft.com/office/drawing/2014/main" id="{9855DAC6-777F-49AE-B2F3-04A65A9C2E6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72CC409-4E76-4178-AF9B-3B2BC03760DB}"/>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1587520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10F8DA-D8C0-43A1-9A09-2819FB2419E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E7A16DC-F930-4B0D-8E88-ADBA5BB256C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3790E16-7F44-486F-A817-2E1EDE3578BF}"/>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5" name="Marcador de pie de página 4">
            <a:extLst>
              <a:ext uri="{FF2B5EF4-FFF2-40B4-BE49-F238E27FC236}">
                <a16:creationId xmlns:a16="http://schemas.microsoft.com/office/drawing/2014/main" id="{ED593DF3-5E00-412A-8840-A924229F915F}"/>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D8E5F5C-5A17-4F20-B030-F6F2F2D1D02A}"/>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4007538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CE94354-1548-4575-A2BA-B3E1C51C3B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533FA10-F0B0-465C-8E1E-F8532687061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793D55A-4E93-40FF-90F6-F7B2557B793B}"/>
              </a:ext>
            </a:extLst>
          </p:cNvPr>
          <p:cNvSpPr>
            <a:spLocks noGrp="1"/>
          </p:cNvSpPr>
          <p:nvPr>
            <p:ph type="dt" sz="half" idx="10"/>
          </p:nvPr>
        </p:nvSpPr>
        <p:spPr/>
        <p:txBody>
          <a:bodyPr/>
          <a:lstStyle/>
          <a:p>
            <a:fld id="{71DC5E8D-0D18-4059-AC47-B90DE3A26394}" type="datetimeFigureOut">
              <a:rPr lang="es-ES" smtClean="0"/>
              <a:t>10/03/2026</a:t>
            </a:fld>
            <a:endParaRPr lang="es-ES"/>
          </a:p>
        </p:txBody>
      </p:sp>
      <p:sp>
        <p:nvSpPr>
          <p:cNvPr id="5" name="Marcador de pie de página 4">
            <a:extLst>
              <a:ext uri="{FF2B5EF4-FFF2-40B4-BE49-F238E27FC236}">
                <a16:creationId xmlns:a16="http://schemas.microsoft.com/office/drawing/2014/main" id="{672D58A8-3E31-45E1-9E59-816D46D207F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8FAA3DB-6676-4407-A7BD-E95CD78771FC}"/>
              </a:ext>
            </a:extLst>
          </p:cNvPr>
          <p:cNvSpPr>
            <a:spLocks noGrp="1"/>
          </p:cNvSpPr>
          <p:nvPr>
            <p:ph type="sldNum" sz="quarter" idx="12"/>
          </p:nvPr>
        </p:nvSpPr>
        <p:spPr/>
        <p:txBody>
          <a:bodyPr/>
          <a:lstStyle/>
          <a:p>
            <a:fld id="{F6493780-DEE9-483A-B5F9-EDDD190AF0DF}" type="slidenum">
              <a:rPr lang="es-ES" smtClean="0"/>
              <a:t>‹Nº›</a:t>
            </a:fld>
            <a:endParaRPr lang="es-ES"/>
          </a:p>
        </p:txBody>
      </p:sp>
    </p:spTree>
    <p:extLst>
      <p:ext uri="{BB962C8B-B14F-4D97-AF65-F5344CB8AC3E}">
        <p14:creationId xmlns:p14="http://schemas.microsoft.com/office/powerpoint/2010/main" val="3105046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874BA6E-4C40-4BA9-96F7-98D865CC3E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15B62BD-0E29-4FA6-8159-8330ECC950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D4179C1-03B2-42BB-BC16-626184D691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DC5E8D-0D18-4059-AC47-B90DE3A26394}" type="datetimeFigureOut">
              <a:rPr lang="es-ES" smtClean="0"/>
              <a:t>10/03/2026</a:t>
            </a:fld>
            <a:endParaRPr lang="es-ES"/>
          </a:p>
        </p:txBody>
      </p:sp>
      <p:sp>
        <p:nvSpPr>
          <p:cNvPr id="5" name="Marcador de pie de página 4">
            <a:extLst>
              <a:ext uri="{FF2B5EF4-FFF2-40B4-BE49-F238E27FC236}">
                <a16:creationId xmlns:a16="http://schemas.microsoft.com/office/drawing/2014/main" id="{3AD6639C-FB7A-4E17-AA89-630069CD6F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1E2A0855-01CB-4164-9CB0-4A9D033B25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493780-DEE9-483A-B5F9-EDDD190AF0DF}" type="slidenum">
              <a:rPr lang="es-ES" smtClean="0"/>
              <a:t>‹Nº›</a:t>
            </a:fld>
            <a:endParaRPr lang="es-ES"/>
          </a:p>
        </p:txBody>
      </p:sp>
    </p:spTree>
    <p:extLst>
      <p:ext uri="{BB962C8B-B14F-4D97-AF65-F5344CB8AC3E}">
        <p14:creationId xmlns:p14="http://schemas.microsoft.com/office/powerpoint/2010/main" val="38698097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5A451E-190A-4154-8222-BF78C9A988B0}"/>
              </a:ext>
            </a:extLst>
          </p:cNvPr>
          <p:cNvSpPr>
            <a:spLocks noGrp="1"/>
          </p:cNvSpPr>
          <p:nvPr>
            <p:ph type="ctrTitle"/>
          </p:nvPr>
        </p:nvSpPr>
        <p:spPr/>
        <p:txBody>
          <a:bodyPr/>
          <a:lstStyle/>
          <a:p>
            <a:r>
              <a:rPr lang="es-ES" dirty="0"/>
              <a:t>Rotación de cribado Neonatal</a:t>
            </a:r>
          </a:p>
        </p:txBody>
      </p:sp>
      <p:sp>
        <p:nvSpPr>
          <p:cNvPr id="3" name="Subtítulo 2">
            <a:extLst>
              <a:ext uri="{FF2B5EF4-FFF2-40B4-BE49-F238E27FC236}">
                <a16:creationId xmlns:a16="http://schemas.microsoft.com/office/drawing/2014/main" id="{DCC13290-1B68-4164-9AE9-526968DAED45}"/>
              </a:ext>
            </a:extLst>
          </p:cNvPr>
          <p:cNvSpPr>
            <a:spLocks noGrp="1"/>
          </p:cNvSpPr>
          <p:nvPr>
            <p:ph type="subTitle" idx="1"/>
          </p:nvPr>
        </p:nvSpPr>
        <p:spPr/>
        <p:txBody>
          <a:bodyPr/>
          <a:lstStyle/>
          <a:p>
            <a:endParaRPr lang="es-ES" dirty="0"/>
          </a:p>
        </p:txBody>
      </p:sp>
    </p:spTree>
    <p:extLst>
      <p:ext uri="{BB962C8B-B14F-4D97-AF65-F5344CB8AC3E}">
        <p14:creationId xmlns:p14="http://schemas.microsoft.com/office/powerpoint/2010/main" val="2825194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C81DAA-65B6-434B-AF2A-D1AB884E3D67}"/>
              </a:ext>
            </a:extLst>
          </p:cNvPr>
          <p:cNvSpPr>
            <a:spLocks noGrp="1"/>
          </p:cNvSpPr>
          <p:nvPr>
            <p:ph type="title"/>
          </p:nvPr>
        </p:nvSpPr>
        <p:spPr/>
        <p:txBody>
          <a:bodyPr/>
          <a:lstStyle/>
          <a:p>
            <a:r>
              <a:rPr lang="es-ES" dirty="0" err="1"/>
              <a:t>Indice</a:t>
            </a:r>
            <a:endParaRPr lang="es-ES" dirty="0"/>
          </a:p>
        </p:txBody>
      </p:sp>
      <p:sp>
        <p:nvSpPr>
          <p:cNvPr id="3" name="Marcador de contenido 2">
            <a:extLst>
              <a:ext uri="{FF2B5EF4-FFF2-40B4-BE49-F238E27FC236}">
                <a16:creationId xmlns:a16="http://schemas.microsoft.com/office/drawing/2014/main" id="{F748A3BF-4398-4909-86E1-473F2A9648EF}"/>
              </a:ext>
            </a:extLst>
          </p:cNvPr>
          <p:cNvSpPr>
            <a:spLocks noGrp="1"/>
          </p:cNvSpPr>
          <p:nvPr>
            <p:ph idx="1"/>
          </p:nvPr>
        </p:nvSpPr>
        <p:spPr/>
        <p:txBody>
          <a:bodyPr/>
          <a:lstStyle/>
          <a:p>
            <a:pPr algn="l"/>
            <a:r>
              <a:rPr lang="es-ES" b="0" i="0" dirty="0">
                <a:solidFill>
                  <a:srgbClr val="212121"/>
                </a:solidFill>
                <a:effectLst/>
                <a:latin typeface="wf_segoe-ui_normal"/>
              </a:rPr>
              <a:t>Revisar el marco actual del cribado neonatal en España.  </a:t>
            </a:r>
          </a:p>
          <a:p>
            <a:pPr algn="l"/>
            <a:r>
              <a:rPr lang="es-ES" b="0" i="0" dirty="0">
                <a:solidFill>
                  <a:srgbClr val="212121"/>
                </a:solidFill>
                <a:effectLst/>
                <a:latin typeface="wf_segoe-ui_normal"/>
              </a:rPr>
              <a:t>Analizar la fase preanalítica como elemento crítico del rendimiento del programa.  </a:t>
            </a:r>
          </a:p>
          <a:p>
            <a:pPr algn="l"/>
            <a:r>
              <a:rPr lang="es-ES" b="0" i="0" dirty="0">
                <a:solidFill>
                  <a:srgbClr val="212121"/>
                </a:solidFill>
                <a:effectLst/>
                <a:latin typeface="wf_segoe-ui_normal"/>
              </a:rPr>
              <a:t>Revisar la fase analítica desde la perspectiva del laboratorio clínico.  </a:t>
            </a:r>
          </a:p>
          <a:p>
            <a:pPr algn="l"/>
            <a:r>
              <a:rPr lang="es-ES" b="0" i="0" dirty="0">
                <a:solidFill>
                  <a:srgbClr val="212121"/>
                </a:solidFill>
                <a:effectLst/>
                <a:latin typeface="wf_segoe-ui_normal"/>
              </a:rPr>
              <a:t>Describir la fase </a:t>
            </a:r>
            <a:r>
              <a:rPr lang="es-ES" b="0" i="0" dirty="0" err="1">
                <a:solidFill>
                  <a:srgbClr val="212121"/>
                </a:solidFill>
                <a:effectLst/>
                <a:latin typeface="wf_segoe-ui_normal"/>
              </a:rPr>
              <a:t>postanalítica</a:t>
            </a:r>
            <a:r>
              <a:rPr lang="es-ES" b="0" i="0" dirty="0">
                <a:solidFill>
                  <a:srgbClr val="212121"/>
                </a:solidFill>
                <a:effectLst/>
                <a:latin typeface="wf_segoe-ui_normal"/>
              </a:rPr>
              <a:t>: validación, comunicación, confirmación y derivación.  </a:t>
            </a:r>
          </a:p>
          <a:p>
            <a:pPr algn="l"/>
            <a:r>
              <a:rPr lang="es-ES" b="0" i="0" dirty="0">
                <a:solidFill>
                  <a:srgbClr val="212121"/>
                </a:solidFill>
                <a:effectLst/>
                <a:latin typeface="wf_segoe-ui_normal"/>
              </a:rPr>
              <a:t>Resaltar los principales indicadores de calidad y los puntos críticos del proceso.</a:t>
            </a:r>
          </a:p>
          <a:p>
            <a:endParaRPr lang="es-ES" dirty="0"/>
          </a:p>
        </p:txBody>
      </p:sp>
    </p:spTree>
    <p:extLst>
      <p:ext uri="{BB962C8B-B14F-4D97-AF65-F5344CB8AC3E}">
        <p14:creationId xmlns:p14="http://schemas.microsoft.com/office/powerpoint/2010/main" val="1558576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E54F8E-6376-4C4A-BADB-48409CFC6BC9}"/>
              </a:ext>
            </a:extLst>
          </p:cNvPr>
          <p:cNvSpPr>
            <a:spLocks noGrp="1"/>
          </p:cNvSpPr>
          <p:nvPr>
            <p:ph type="title"/>
          </p:nvPr>
        </p:nvSpPr>
        <p:spPr/>
        <p:txBody>
          <a:bodyPr/>
          <a:lstStyle/>
          <a:p>
            <a:r>
              <a:rPr lang="es-ES" b="0" i="0" dirty="0">
                <a:solidFill>
                  <a:srgbClr val="212121"/>
                </a:solidFill>
                <a:effectLst/>
                <a:latin typeface="wf_segoe-ui_normal"/>
              </a:rPr>
              <a:t>Cribado neonatal: concepto y finalidad</a:t>
            </a:r>
            <a:endParaRPr lang="es-ES" dirty="0"/>
          </a:p>
        </p:txBody>
      </p:sp>
      <p:sp>
        <p:nvSpPr>
          <p:cNvPr id="3" name="Marcador de contenido 2">
            <a:extLst>
              <a:ext uri="{FF2B5EF4-FFF2-40B4-BE49-F238E27FC236}">
                <a16:creationId xmlns:a16="http://schemas.microsoft.com/office/drawing/2014/main" id="{DA142870-FA93-4A03-A17D-BDAECCA4145C}"/>
              </a:ext>
            </a:extLst>
          </p:cNvPr>
          <p:cNvSpPr>
            <a:spLocks noGrp="1"/>
          </p:cNvSpPr>
          <p:nvPr>
            <p:ph idx="1"/>
          </p:nvPr>
        </p:nvSpPr>
        <p:spPr/>
        <p:txBody>
          <a:bodyPr>
            <a:normAutofit/>
          </a:bodyPr>
          <a:lstStyle/>
          <a:p>
            <a:pPr marL="0" indent="0" algn="l">
              <a:buNone/>
            </a:pPr>
            <a:r>
              <a:rPr lang="es-ES" sz="2100" b="0" i="0" dirty="0">
                <a:solidFill>
                  <a:srgbClr val="212121"/>
                </a:solidFill>
                <a:effectLst/>
                <a:latin typeface="Arial" panose="020B0604020202020204" pitchFamily="34" charset="0"/>
                <a:cs typeface="Arial" panose="020B0604020202020204" pitchFamily="34" charset="0"/>
              </a:rPr>
              <a:t>El cribado neonatal es un programa poblacional de salud pública dirigido a la identificación precoz de recién nacidos con determinadas enfermedades congénitas que pueden beneficiarse de una intervención temprana antes de la aparición de síntomas clínicos.</a:t>
            </a:r>
          </a:p>
          <a:p>
            <a:pPr algn="l"/>
            <a:endParaRPr lang="es-ES" sz="21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2100" b="0" i="0" dirty="0">
                <a:solidFill>
                  <a:srgbClr val="212121"/>
                </a:solidFill>
                <a:effectLst/>
                <a:latin typeface="Arial" panose="020B0604020202020204" pitchFamily="34" charset="0"/>
                <a:cs typeface="Arial" panose="020B0604020202020204" pitchFamily="34" charset="0"/>
              </a:rPr>
              <a:t>Su finalidad no es establecer un diagnóstico definitivo, sino seleccionar a los recién nacidos con mayor probabilidad de padecer una enfermedad para realizar estudios confirmatorios y, en su caso, iniciar tratamiento de forma precoz.</a:t>
            </a:r>
          </a:p>
          <a:p>
            <a:pPr marL="0" indent="0" algn="l">
              <a:buNone/>
            </a:pPr>
            <a:endParaRPr lang="es-ES" sz="21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2100" b="0" i="0" dirty="0">
                <a:solidFill>
                  <a:srgbClr val="212121"/>
                </a:solidFill>
                <a:effectLst/>
                <a:latin typeface="Arial" panose="020B0604020202020204" pitchFamily="34" charset="0"/>
                <a:cs typeface="Arial" panose="020B0604020202020204" pitchFamily="34" charset="0"/>
              </a:rPr>
              <a:t>Desde el punto de vista del laboratorio clínico, el cribado neonatal debe entenderse como un proceso integral que incluye la obtención de la muestra, su transporte, el análisis, la validación, la comunicación del resultado y la coordinación con las unidades clínicas responsables de la confirmación diagnóstica y el seguimiento.</a:t>
            </a:r>
          </a:p>
          <a:p>
            <a:endParaRPr lang="es-ES" dirty="0"/>
          </a:p>
        </p:txBody>
      </p:sp>
    </p:spTree>
    <p:extLst>
      <p:ext uri="{BB962C8B-B14F-4D97-AF65-F5344CB8AC3E}">
        <p14:creationId xmlns:p14="http://schemas.microsoft.com/office/powerpoint/2010/main" val="1936520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836058-B350-45C5-A5FE-460FE7F7A10A}"/>
              </a:ext>
            </a:extLst>
          </p:cNvPr>
          <p:cNvSpPr>
            <a:spLocks noGrp="1"/>
          </p:cNvSpPr>
          <p:nvPr>
            <p:ph type="title"/>
          </p:nvPr>
        </p:nvSpPr>
        <p:spPr/>
        <p:txBody>
          <a:bodyPr/>
          <a:lstStyle/>
          <a:p>
            <a:r>
              <a:rPr lang="es-ES" b="0" i="0" dirty="0">
                <a:solidFill>
                  <a:srgbClr val="212121"/>
                </a:solidFill>
                <a:effectLst/>
                <a:latin typeface="wf_segoe-ui_normal"/>
              </a:rPr>
              <a:t>Marco del programa en España</a:t>
            </a:r>
            <a:endParaRPr lang="es-ES" dirty="0"/>
          </a:p>
        </p:txBody>
      </p:sp>
      <p:sp>
        <p:nvSpPr>
          <p:cNvPr id="3" name="Marcador de contenido 2">
            <a:extLst>
              <a:ext uri="{FF2B5EF4-FFF2-40B4-BE49-F238E27FC236}">
                <a16:creationId xmlns:a16="http://schemas.microsoft.com/office/drawing/2014/main" id="{4EB98CB6-446B-4774-AA1D-067C544288DF}"/>
              </a:ext>
            </a:extLst>
          </p:cNvPr>
          <p:cNvSpPr>
            <a:spLocks noGrp="1"/>
          </p:cNvSpPr>
          <p:nvPr>
            <p:ph idx="1"/>
          </p:nvPr>
        </p:nvSpPr>
        <p:spPr/>
        <p:txBody>
          <a:bodyPr>
            <a:normAutofit/>
          </a:bodyPr>
          <a:lstStyle/>
          <a:p>
            <a:pPr marL="0" indent="0" algn="l">
              <a:buNone/>
            </a:pPr>
            <a:r>
              <a:rPr lang="es-ES" sz="2100" b="0" i="0" dirty="0">
                <a:solidFill>
                  <a:srgbClr val="212121"/>
                </a:solidFill>
                <a:effectLst/>
                <a:latin typeface="Arial" panose="020B0604020202020204" pitchFamily="34" charset="0"/>
                <a:cs typeface="Arial" panose="020B0604020202020204" pitchFamily="34" charset="0"/>
              </a:rPr>
              <a:t>En España, el cribado neonatal forma parte de la cartera común del Sistema Nacional de Salud y se articula a través de programas organizados en las comunidades autónomas, con evaluación global mediante el sistema de información del SNS.</a:t>
            </a:r>
            <a:br>
              <a:rPr lang="es-ES" sz="2100" b="0" i="0" dirty="0">
                <a:solidFill>
                  <a:srgbClr val="212121"/>
                </a:solidFill>
                <a:effectLst/>
                <a:latin typeface="Arial" panose="020B0604020202020204" pitchFamily="34" charset="0"/>
                <a:cs typeface="Arial" panose="020B0604020202020204" pitchFamily="34" charset="0"/>
              </a:rPr>
            </a:br>
            <a:endParaRPr lang="es-ES" sz="21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2100" b="0" i="0" dirty="0">
                <a:solidFill>
                  <a:srgbClr val="212121"/>
                </a:solidFill>
                <a:effectLst/>
                <a:latin typeface="Arial" panose="020B0604020202020204" pitchFamily="34" charset="0"/>
                <a:cs typeface="Arial" panose="020B0604020202020204" pitchFamily="34" charset="0"/>
              </a:rPr>
              <a:t>El Ministerio de Sanidad dispone de documentos técnicos que establecen los objetivos, los requisitos de calidad, las recomendaciones de desarrollo del programa y los protocolos consensuados.</a:t>
            </a:r>
          </a:p>
          <a:p>
            <a:pPr marL="0" indent="0" algn="l">
              <a:buNone/>
            </a:pPr>
            <a:endParaRPr lang="es-ES" sz="21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2100" b="0" i="0" dirty="0">
                <a:solidFill>
                  <a:srgbClr val="212121"/>
                </a:solidFill>
                <a:effectLst/>
                <a:latin typeface="Arial" panose="020B0604020202020204" pitchFamily="34" charset="0"/>
                <a:cs typeface="Arial" panose="020B0604020202020204" pitchFamily="34" charset="0"/>
              </a:rPr>
              <a:t>Por tanto, el cribado neonatal no debe considerarse una actividad aislada del laboratorio, sino un programa estructurado, protocolizado y evaluable, con implicaciones clínicas, organizativas y de equidad asistencial.</a:t>
            </a:r>
          </a:p>
          <a:p>
            <a:endParaRPr lang="es-ES" dirty="0"/>
          </a:p>
        </p:txBody>
      </p:sp>
    </p:spTree>
    <p:extLst>
      <p:ext uri="{BB962C8B-B14F-4D97-AF65-F5344CB8AC3E}">
        <p14:creationId xmlns:p14="http://schemas.microsoft.com/office/powerpoint/2010/main" val="2670631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E619E3-82A7-42A3-ACCA-5EFFF339129D}"/>
              </a:ext>
            </a:extLst>
          </p:cNvPr>
          <p:cNvSpPr>
            <a:spLocks noGrp="1"/>
          </p:cNvSpPr>
          <p:nvPr>
            <p:ph type="title"/>
          </p:nvPr>
        </p:nvSpPr>
        <p:spPr/>
        <p:txBody>
          <a:bodyPr/>
          <a:lstStyle/>
          <a:p>
            <a:r>
              <a:rPr lang="es-ES" b="0" i="0" dirty="0">
                <a:solidFill>
                  <a:srgbClr val="212121"/>
                </a:solidFill>
                <a:effectLst/>
                <a:latin typeface="wf_segoe-ui_normal"/>
              </a:rPr>
              <a:t>Enfermedades incluidas y realidad organizativa</a:t>
            </a:r>
            <a:endParaRPr lang="es-ES" dirty="0"/>
          </a:p>
        </p:txBody>
      </p:sp>
      <p:sp>
        <p:nvSpPr>
          <p:cNvPr id="3" name="Marcador de contenido 2">
            <a:extLst>
              <a:ext uri="{FF2B5EF4-FFF2-40B4-BE49-F238E27FC236}">
                <a16:creationId xmlns:a16="http://schemas.microsoft.com/office/drawing/2014/main" id="{F4027D6B-4FD5-4C6F-B9AB-6CD7AB2586F0}"/>
              </a:ext>
            </a:extLst>
          </p:cNvPr>
          <p:cNvSpPr>
            <a:spLocks noGrp="1"/>
          </p:cNvSpPr>
          <p:nvPr>
            <p:ph idx="1"/>
          </p:nvPr>
        </p:nvSpPr>
        <p:spPr/>
        <p:txBody>
          <a:bodyPr>
            <a:normAutofit fontScale="92500" lnSpcReduction="10000"/>
          </a:bodyPr>
          <a:lstStyle/>
          <a:p>
            <a:pPr marL="0" indent="0" algn="l">
              <a:buNone/>
            </a:pPr>
            <a:r>
              <a:rPr lang="es-ES" sz="2300" b="0" i="0" dirty="0">
                <a:solidFill>
                  <a:srgbClr val="212121"/>
                </a:solidFill>
                <a:effectLst/>
                <a:latin typeface="Arial" panose="020B0604020202020204" pitchFamily="34" charset="0"/>
                <a:cs typeface="Arial" panose="020B0604020202020204" pitchFamily="34" charset="0"/>
              </a:rPr>
              <a:t>El panel de enfermedades incluidas en el programa común del SNS ha ido ampliándose de forma progresiva. Además de la cartera común, algunas comunidades autónomas han desarrollado paneles ampliados, lo que ha condicionado una cierta heterogeneidad territorial en la oferta efectiva de cribado neonatal.</a:t>
            </a:r>
          </a:p>
          <a:p>
            <a:pPr algn="l"/>
            <a:endParaRPr lang="es-ES" sz="23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2300" b="0" i="0" dirty="0">
                <a:solidFill>
                  <a:srgbClr val="212121"/>
                </a:solidFill>
                <a:effectLst/>
                <a:latin typeface="Arial" panose="020B0604020202020204" pitchFamily="34" charset="0"/>
                <a:cs typeface="Arial" panose="020B0604020202020204" pitchFamily="34" charset="0"/>
              </a:rPr>
              <a:t>Esta situación obliga a distinguir entre:</a:t>
            </a:r>
          </a:p>
          <a:p>
            <a:pPr lvl="1"/>
            <a:r>
              <a:rPr lang="es-ES" sz="1900" dirty="0">
                <a:solidFill>
                  <a:srgbClr val="212121"/>
                </a:solidFill>
                <a:latin typeface="Arial" panose="020B0604020202020204" pitchFamily="34" charset="0"/>
                <a:cs typeface="Arial" panose="020B0604020202020204" pitchFamily="34" charset="0"/>
              </a:rPr>
              <a:t>C</a:t>
            </a:r>
            <a:r>
              <a:rPr lang="es-ES" sz="1900" b="0" i="0" dirty="0">
                <a:solidFill>
                  <a:srgbClr val="212121"/>
                </a:solidFill>
                <a:effectLst/>
                <a:latin typeface="Arial" panose="020B0604020202020204" pitchFamily="34" charset="0"/>
                <a:cs typeface="Arial" panose="020B0604020202020204" pitchFamily="34" charset="0"/>
              </a:rPr>
              <a:t>artera común del SNS.  </a:t>
            </a:r>
          </a:p>
          <a:p>
            <a:pPr lvl="1"/>
            <a:r>
              <a:rPr lang="es-ES" sz="1900" b="0" i="0" dirty="0">
                <a:solidFill>
                  <a:srgbClr val="212121"/>
                </a:solidFill>
                <a:effectLst/>
                <a:latin typeface="Arial" panose="020B0604020202020204" pitchFamily="34" charset="0"/>
                <a:cs typeface="Arial" panose="020B0604020202020204" pitchFamily="34" charset="0"/>
              </a:rPr>
              <a:t>Desarrollos autonómicos complementarios.  </a:t>
            </a:r>
          </a:p>
          <a:p>
            <a:pPr lvl="1"/>
            <a:r>
              <a:rPr lang="es-ES" sz="1900" dirty="0">
                <a:solidFill>
                  <a:srgbClr val="212121"/>
                </a:solidFill>
                <a:latin typeface="Arial" panose="020B0604020202020204" pitchFamily="34" charset="0"/>
                <a:cs typeface="Arial" panose="020B0604020202020204" pitchFamily="34" charset="0"/>
              </a:rPr>
              <a:t>P</a:t>
            </a:r>
            <a:r>
              <a:rPr lang="es-ES" sz="1900" b="0" i="0" dirty="0">
                <a:solidFill>
                  <a:srgbClr val="212121"/>
                </a:solidFill>
                <a:effectLst/>
                <a:latin typeface="Arial" panose="020B0604020202020204" pitchFamily="34" charset="0"/>
                <a:cs typeface="Arial" panose="020B0604020202020204" pitchFamily="34" charset="0"/>
              </a:rPr>
              <a:t>rotocolos analíticos y </a:t>
            </a:r>
            <a:r>
              <a:rPr lang="es-ES" sz="1900" b="0" i="0" dirty="0" err="1">
                <a:solidFill>
                  <a:srgbClr val="212121"/>
                </a:solidFill>
                <a:effectLst/>
                <a:latin typeface="Arial" panose="020B0604020202020204" pitchFamily="34" charset="0"/>
                <a:cs typeface="Arial" panose="020B0604020202020204" pitchFamily="34" charset="0"/>
              </a:rPr>
              <a:t>postanalíticos</a:t>
            </a:r>
            <a:r>
              <a:rPr lang="es-ES" sz="1900" b="0" i="0" dirty="0">
                <a:solidFill>
                  <a:srgbClr val="212121"/>
                </a:solidFill>
                <a:effectLst/>
                <a:latin typeface="Arial" panose="020B0604020202020204" pitchFamily="34" charset="0"/>
                <a:cs typeface="Arial" panose="020B0604020202020204" pitchFamily="34" charset="0"/>
              </a:rPr>
              <a:t> propios de cada programa.</a:t>
            </a:r>
          </a:p>
          <a:p>
            <a:pPr algn="l"/>
            <a:endParaRPr lang="es-ES" sz="23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2300" b="0" i="0" dirty="0">
                <a:solidFill>
                  <a:srgbClr val="212121"/>
                </a:solidFill>
                <a:effectLst/>
                <a:latin typeface="Arial" panose="020B0604020202020204" pitchFamily="34" charset="0"/>
                <a:cs typeface="Arial" panose="020B0604020202020204" pitchFamily="34" charset="0"/>
              </a:rPr>
              <a:t>Para el laboratorio, esta heterogeneidad tiene implicaciones directas sobre la selección de marcadores, la organización del flujo analítico, la definición de puntos de corte, la necesidad de pruebas de segundo nivel y la estructura de derivación clínica.</a:t>
            </a:r>
          </a:p>
          <a:p>
            <a:endParaRPr lang="es-ES" dirty="0"/>
          </a:p>
        </p:txBody>
      </p:sp>
    </p:spTree>
    <p:extLst>
      <p:ext uri="{BB962C8B-B14F-4D97-AF65-F5344CB8AC3E}">
        <p14:creationId xmlns:p14="http://schemas.microsoft.com/office/powerpoint/2010/main" val="1204143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B6A27A-F5B9-4757-8D35-4388E8257E59}"/>
              </a:ext>
            </a:extLst>
          </p:cNvPr>
          <p:cNvSpPr>
            <a:spLocks noGrp="1"/>
          </p:cNvSpPr>
          <p:nvPr>
            <p:ph type="title"/>
          </p:nvPr>
        </p:nvSpPr>
        <p:spPr/>
        <p:txBody>
          <a:bodyPr/>
          <a:lstStyle/>
          <a:p>
            <a:r>
              <a:rPr lang="es-ES" b="0" i="0" dirty="0">
                <a:solidFill>
                  <a:srgbClr val="212121"/>
                </a:solidFill>
                <a:effectLst/>
                <a:latin typeface="wf_segoe-ui_normal"/>
              </a:rPr>
              <a:t>El cribado neonatal como proceso completo</a:t>
            </a:r>
            <a:endParaRPr lang="es-ES" dirty="0"/>
          </a:p>
        </p:txBody>
      </p:sp>
      <p:sp>
        <p:nvSpPr>
          <p:cNvPr id="3" name="Marcador de contenido 2">
            <a:extLst>
              <a:ext uri="{FF2B5EF4-FFF2-40B4-BE49-F238E27FC236}">
                <a16:creationId xmlns:a16="http://schemas.microsoft.com/office/drawing/2014/main" id="{9949A51D-C32C-4D76-97D0-F8C9CF553D59}"/>
              </a:ext>
            </a:extLst>
          </p:cNvPr>
          <p:cNvSpPr>
            <a:spLocks noGrp="1"/>
          </p:cNvSpPr>
          <p:nvPr>
            <p:ph idx="1"/>
          </p:nvPr>
        </p:nvSpPr>
        <p:spPr>
          <a:xfrm>
            <a:off x="838200" y="1825625"/>
            <a:ext cx="10515600" cy="4254333"/>
          </a:xfrm>
        </p:spPr>
        <p:txBody>
          <a:bodyPr>
            <a:normAutofit fontScale="47500" lnSpcReduction="20000"/>
          </a:bodyPr>
          <a:lstStyle/>
          <a:p>
            <a:pPr marL="0" indent="0" algn="l">
              <a:buNone/>
            </a:pPr>
            <a:r>
              <a:rPr lang="es-ES" sz="4500" b="0" i="0" dirty="0">
                <a:solidFill>
                  <a:srgbClr val="212121"/>
                </a:solidFill>
                <a:effectLst/>
                <a:latin typeface="Arial" panose="020B0604020202020204" pitchFamily="34" charset="0"/>
                <a:cs typeface="Arial" panose="020B0604020202020204" pitchFamily="34" charset="0"/>
              </a:rPr>
              <a:t>El rendimiento del cribado neonatal depende de la correcta ejecución de todas las fases del proceso:</a:t>
            </a:r>
          </a:p>
          <a:p>
            <a:pPr algn="l"/>
            <a:r>
              <a:rPr lang="es-ES" sz="3800" b="0" i="0" dirty="0">
                <a:solidFill>
                  <a:srgbClr val="212121"/>
                </a:solidFill>
                <a:effectLst/>
                <a:latin typeface="Arial" panose="020B0604020202020204" pitchFamily="34" charset="0"/>
                <a:cs typeface="Arial" panose="020B0604020202020204" pitchFamily="34" charset="0"/>
              </a:rPr>
              <a:t>Información a la familia. </a:t>
            </a:r>
          </a:p>
          <a:p>
            <a:pPr algn="l"/>
            <a:r>
              <a:rPr lang="es-ES" sz="3800" dirty="0">
                <a:solidFill>
                  <a:srgbClr val="212121"/>
                </a:solidFill>
                <a:latin typeface="Arial" panose="020B0604020202020204" pitchFamily="34" charset="0"/>
                <a:cs typeface="Arial" panose="020B0604020202020204" pitchFamily="34" charset="0"/>
              </a:rPr>
              <a:t>O</a:t>
            </a:r>
            <a:r>
              <a:rPr lang="es-ES" sz="3800" b="0" i="0" dirty="0">
                <a:solidFill>
                  <a:srgbClr val="212121"/>
                </a:solidFill>
                <a:effectLst/>
                <a:latin typeface="Arial" panose="020B0604020202020204" pitchFamily="34" charset="0"/>
                <a:cs typeface="Arial" panose="020B0604020202020204" pitchFamily="34" charset="0"/>
              </a:rPr>
              <a:t>btención de la muestra.</a:t>
            </a:r>
          </a:p>
          <a:p>
            <a:pPr algn="l"/>
            <a:r>
              <a:rPr lang="es-ES" sz="3800" b="0" i="0" dirty="0">
                <a:solidFill>
                  <a:srgbClr val="212121"/>
                </a:solidFill>
                <a:effectLst/>
                <a:latin typeface="Arial" panose="020B0604020202020204" pitchFamily="34" charset="0"/>
                <a:cs typeface="Arial" panose="020B0604020202020204" pitchFamily="34" charset="0"/>
              </a:rPr>
              <a:t>Secado, conservación y transporte.  </a:t>
            </a:r>
          </a:p>
          <a:p>
            <a:pPr algn="l"/>
            <a:r>
              <a:rPr lang="es-ES" sz="3800" dirty="0">
                <a:solidFill>
                  <a:srgbClr val="212121"/>
                </a:solidFill>
                <a:latin typeface="Arial" panose="020B0604020202020204" pitchFamily="34" charset="0"/>
                <a:cs typeface="Arial" panose="020B0604020202020204" pitchFamily="34" charset="0"/>
              </a:rPr>
              <a:t>R</a:t>
            </a:r>
            <a:r>
              <a:rPr lang="es-ES" sz="3800" b="0" i="0" dirty="0">
                <a:solidFill>
                  <a:srgbClr val="212121"/>
                </a:solidFill>
                <a:effectLst/>
                <a:latin typeface="Arial" panose="020B0604020202020204" pitchFamily="34" charset="0"/>
                <a:cs typeface="Arial" panose="020B0604020202020204" pitchFamily="34" charset="0"/>
              </a:rPr>
              <a:t>ecepción y verificación en laboratorio.  </a:t>
            </a:r>
          </a:p>
          <a:p>
            <a:pPr algn="l"/>
            <a:r>
              <a:rPr lang="es-ES" sz="3800" dirty="0">
                <a:solidFill>
                  <a:srgbClr val="212121"/>
                </a:solidFill>
                <a:latin typeface="Arial" panose="020B0604020202020204" pitchFamily="34" charset="0"/>
                <a:cs typeface="Arial" panose="020B0604020202020204" pitchFamily="34" charset="0"/>
              </a:rPr>
              <a:t>A</a:t>
            </a:r>
            <a:r>
              <a:rPr lang="es-ES" sz="3800" b="0" i="0" dirty="0">
                <a:solidFill>
                  <a:srgbClr val="212121"/>
                </a:solidFill>
                <a:effectLst/>
                <a:latin typeface="Arial" panose="020B0604020202020204" pitchFamily="34" charset="0"/>
                <a:cs typeface="Arial" panose="020B0604020202020204" pitchFamily="34" charset="0"/>
              </a:rPr>
              <a:t>nálisis, validación e interpretación.  </a:t>
            </a:r>
          </a:p>
          <a:p>
            <a:pPr algn="l"/>
            <a:r>
              <a:rPr lang="es-ES" sz="3800" dirty="0">
                <a:solidFill>
                  <a:srgbClr val="212121"/>
                </a:solidFill>
                <a:latin typeface="Arial" panose="020B0604020202020204" pitchFamily="34" charset="0"/>
                <a:cs typeface="Arial" panose="020B0604020202020204" pitchFamily="34" charset="0"/>
              </a:rPr>
              <a:t>C</a:t>
            </a:r>
            <a:r>
              <a:rPr lang="es-ES" sz="3800" b="0" i="0" dirty="0">
                <a:solidFill>
                  <a:srgbClr val="212121"/>
                </a:solidFill>
                <a:effectLst/>
                <a:latin typeface="Arial" panose="020B0604020202020204" pitchFamily="34" charset="0"/>
                <a:cs typeface="Arial" panose="020B0604020202020204" pitchFamily="34" charset="0"/>
              </a:rPr>
              <a:t>omunicación del resultado.  </a:t>
            </a:r>
          </a:p>
          <a:p>
            <a:pPr algn="l"/>
            <a:r>
              <a:rPr lang="es-ES" sz="3800" dirty="0">
                <a:solidFill>
                  <a:srgbClr val="212121"/>
                </a:solidFill>
                <a:latin typeface="Arial" panose="020B0604020202020204" pitchFamily="34" charset="0"/>
                <a:cs typeface="Arial" panose="020B0604020202020204" pitchFamily="34" charset="0"/>
              </a:rPr>
              <a:t>S</a:t>
            </a:r>
            <a:r>
              <a:rPr lang="es-ES" sz="3800" b="0" i="0" dirty="0">
                <a:solidFill>
                  <a:srgbClr val="212121"/>
                </a:solidFill>
                <a:effectLst/>
                <a:latin typeface="Arial" panose="020B0604020202020204" pitchFamily="34" charset="0"/>
                <a:cs typeface="Arial" panose="020B0604020202020204" pitchFamily="34" charset="0"/>
              </a:rPr>
              <a:t>olicitud de nueva muestra cuando proceda.</a:t>
            </a:r>
          </a:p>
          <a:p>
            <a:pPr algn="l"/>
            <a:r>
              <a:rPr lang="es-ES" sz="3800" dirty="0">
                <a:solidFill>
                  <a:srgbClr val="212121"/>
                </a:solidFill>
                <a:latin typeface="Arial" panose="020B0604020202020204" pitchFamily="34" charset="0"/>
                <a:cs typeface="Arial" panose="020B0604020202020204" pitchFamily="34" charset="0"/>
              </a:rPr>
              <a:t>D</a:t>
            </a:r>
            <a:r>
              <a:rPr lang="es-ES" sz="3800" b="0" i="0" dirty="0">
                <a:solidFill>
                  <a:srgbClr val="212121"/>
                </a:solidFill>
                <a:effectLst/>
                <a:latin typeface="Arial" panose="020B0604020202020204" pitchFamily="34" charset="0"/>
                <a:cs typeface="Arial" panose="020B0604020202020204" pitchFamily="34" charset="0"/>
              </a:rPr>
              <a:t>erivación a unidades clínicas de referencia, confirmación diagnóstica, e inicio de tratamiento y seguimiento.</a:t>
            </a:r>
          </a:p>
          <a:p>
            <a:pPr marL="0" indent="0" algn="l">
              <a:buNone/>
            </a:pPr>
            <a:r>
              <a:rPr lang="es-ES" sz="4500" b="0" i="0" dirty="0">
                <a:solidFill>
                  <a:srgbClr val="212121"/>
                </a:solidFill>
                <a:effectLst/>
                <a:latin typeface="Arial" panose="020B0604020202020204" pitchFamily="34" charset="0"/>
                <a:cs typeface="Arial" panose="020B0604020202020204" pitchFamily="34" charset="0"/>
              </a:rPr>
              <a:t>En consecuencia, los errores y demoras no se concentran exclusivamente en la fase analítica. Una parte relevante de las incidencias aparece en las interfaces entre niveles asistenciales y entre etapas del circuito.</a:t>
            </a:r>
          </a:p>
          <a:p>
            <a:endParaRPr lang="es-ES" dirty="0"/>
          </a:p>
        </p:txBody>
      </p:sp>
    </p:spTree>
    <p:extLst>
      <p:ext uri="{BB962C8B-B14F-4D97-AF65-F5344CB8AC3E}">
        <p14:creationId xmlns:p14="http://schemas.microsoft.com/office/powerpoint/2010/main" val="1022735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815D70-B28D-4D3C-87E5-98CB7D19179A}"/>
              </a:ext>
            </a:extLst>
          </p:cNvPr>
          <p:cNvSpPr>
            <a:spLocks noGrp="1"/>
          </p:cNvSpPr>
          <p:nvPr>
            <p:ph type="title"/>
          </p:nvPr>
        </p:nvSpPr>
        <p:spPr/>
        <p:txBody>
          <a:bodyPr/>
          <a:lstStyle/>
          <a:p>
            <a:r>
              <a:rPr lang="es-ES" b="0" i="0" dirty="0">
                <a:solidFill>
                  <a:srgbClr val="212121"/>
                </a:solidFill>
                <a:effectLst/>
                <a:latin typeface="wf_segoe-ui_normal"/>
              </a:rPr>
              <a:t>Fase preanalítica: relevancia para el laboratorio</a:t>
            </a:r>
            <a:endParaRPr lang="es-ES" dirty="0"/>
          </a:p>
        </p:txBody>
      </p:sp>
      <p:sp>
        <p:nvSpPr>
          <p:cNvPr id="3" name="Marcador de contenido 2">
            <a:extLst>
              <a:ext uri="{FF2B5EF4-FFF2-40B4-BE49-F238E27FC236}">
                <a16:creationId xmlns:a16="http://schemas.microsoft.com/office/drawing/2014/main" id="{C5DFF3F6-1904-418C-804F-DF2574C629A7}"/>
              </a:ext>
            </a:extLst>
          </p:cNvPr>
          <p:cNvSpPr>
            <a:spLocks noGrp="1"/>
          </p:cNvSpPr>
          <p:nvPr>
            <p:ph idx="1"/>
          </p:nvPr>
        </p:nvSpPr>
        <p:spPr/>
        <p:txBody>
          <a:bodyPr>
            <a:normAutofit fontScale="85000" lnSpcReduction="20000"/>
          </a:bodyPr>
          <a:lstStyle/>
          <a:p>
            <a:pPr marL="0" indent="0" algn="l">
              <a:buNone/>
            </a:pPr>
            <a:r>
              <a:rPr lang="es-ES" b="0" i="0" dirty="0">
                <a:solidFill>
                  <a:srgbClr val="212121"/>
                </a:solidFill>
                <a:effectLst/>
                <a:latin typeface="wf_segoe-ui_normal"/>
              </a:rPr>
              <a:t>La fase preanalítica es crítica en el cribado neonatal porque condiciona de forma directa:</a:t>
            </a:r>
          </a:p>
          <a:p>
            <a:pPr algn="l"/>
            <a:r>
              <a:rPr lang="es-ES" dirty="0">
                <a:solidFill>
                  <a:srgbClr val="212121"/>
                </a:solidFill>
                <a:latin typeface="wf_segoe-ui_normal"/>
              </a:rPr>
              <a:t>L</a:t>
            </a:r>
            <a:r>
              <a:rPr lang="es-ES" b="0" i="0" dirty="0">
                <a:solidFill>
                  <a:srgbClr val="212121"/>
                </a:solidFill>
                <a:effectLst/>
                <a:latin typeface="wf_segoe-ui_normal"/>
              </a:rPr>
              <a:t>a validez de la muestra.</a:t>
            </a:r>
          </a:p>
          <a:p>
            <a:pPr algn="l"/>
            <a:r>
              <a:rPr lang="es-ES" dirty="0">
                <a:solidFill>
                  <a:srgbClr val="212121"/>
                </a:solidFill>
                <a:latin typeface="wf_segoe-ui_normal"/>
              </a:rPr>
              <a:t>L</a:t>
            </a:r>
            <a:r>
              <a:rPr lang="es-ES" b="0" i="0" dirty="0">
                <a:solidFill>
                  <a:srgbClr val="212121"/>
                </a:solidFill>
                <a:effectLst/>
                <a:latin typeface="wf_segoe-ui_normal"/>
              </a:rPr>
              <a:t>a interpretabilidad de los resultados.  </a:t>
            </a:r>
          </a:p>
          <a:p>
            <a:pPr algn="l"/>
            <a:r>
              <a:rPr lang="es-ES" dirty="0">
                <a:solidFill>
                  <a:srgbClr val="212121"/>
                </a:solidFill>
                <a:latin typeface="wf_segoe-ui_normal"/>
              </a:rPr>
              <a:t>L</a:t>
            </a:r>
            <a:r>
              <a:rPr lang="es-ES" b="0" i="0" dirty="0">
                <a:solidFill>
                  <a:srgbClr val="212121"/>
                </a:solidFill>
                <a:effectLst/>
                <a:latin typeface="wf_segoe-ui_normal"/>
              </a:rPr>
              <a:t>a necesidad de repetición.</a:t>
            </a:r>
          </a:p>
          <a:p>
            <a:pPr algn="l"/>
            <a:r>
              <a:rPr lang="es-ES" dirty="0">
                <a:solidFill>
                  <a:srgbClr val="212121"/>
                </a:solidFill>
                <a:latin typeface="wf_segoe-ui_normal"/>
              </a:rPr>
              <a:t>L</a:t>
            </a:r>
            <a:r>
              <a:rPr lang="es-ES" b="0" i="0" dirty="0">
                <a:solidFill>
                  <a:srgbClr val="212121"/>
                </a:solidFill>
                <a:effectLst/>
                <a:latin typeface="wf_segoe-ui_normal"/>
              </a:rPr>
              <a:t>a tasa de falsos positivos.  </a:t>
            </a:r>
          </a:p>
          <a:p>
            <a:pPr algn="l"/>
            <a:r>
              <a:rPr lang="es-ES" dirty="0">
                <a:solidFill>
                  <a:srgbClr val="212121"/>
                </a:solidFill>
                <a:latin typeface="wf_segoe-ui_normal"/>
              </a:rPr>
              <a:t>L</a:t>
            </a:r>
            <a:r>
              <a:rPr lang="es-ES" b="0" i="0" dirty="0">
                <a:solidFill>
                  <a:srgbClr val="212121"/>
                </a:solidFill>
                <a:effectLst/>
                <a:latin typeface="wf_segoe-ui_normal"/>
              </a:rPr>
              <a:t>a posibilidad de falsos negativos.  </a:t>
            </a:r>
          </a:p>
          <a:p>
            <a:pPr algn="l"/>
            <a:r>
              <a:rPr lang="es-ES" dirty="0">
                <a:solidFill>
                  <a:srgbClr val="212121"/>
                </a:solidFill>
                <a:latin typeface="wf_segoe-ui_normal"/>
              </a:rPr>
              <a:t>E</a:t>
            </a:r>
            <a:r>
              <a:rPr lang="es-ES" b="0" i="0" dirty="0">
                <a:solidFill>
                  <a:srgbClr val="212121"/>
                </a:solidFill>
                <a:effectLst/>
                <a:latin typeface="wf_segoe-ui_normal"/>
              </a:rPr>
              <a:t>l tiempo global hasta la confirmación diagnóstica y el tratamiento.</a:t>
            </a:r>
          </a:p>
          <a:p>
            <a:pPr marL="0" indent="0" algn="l">
              <a:buNone/>
            </a:pPr>
            <a:r>
              <a:rPr lang="es-ES" b="0" i="0" dirty="0">
                <a:solidFill>
                  <a:srgbClr val="212121"/>
                </a:solidFill>
                <a:effectLst/>
                <a:latin typeface="wf_segoe-ui_normal"/>
              </a:rPr>
              <a:t>A diferencia de otros entornos analíticos, en el cribado neonatal la calidad preanalítica no solo afecta a la precisión del resultado, sino al propio impacto clínico del programa. Una muestra mal obtenida, mal identificada o mal transportada puede traducirse en un retraso diagnóstico evitable.</a:t>
            </a:r>
            <a:br>
              <a:rPr lang="es-ES" dirty="0"/>
            </a:br>
            <a:endParaRPr lang="es-ES" dirty="0"/>
          </a:p>
        </p:txBody>
      </p:sp>
    </p:spTree>
    <p:extLst>
      <p:ext uri="{BB962C8B-B14F-4D97-AF65-F5344CB8AC3E}">
        <p14:creationId xmlns:p14="http://schemas.microsoft.com/office/powerpoint/2010/main" val="2590720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66393E84-7E7A-4539-38AC-28D9985CB1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9666" y="295275"/>
            <a:ext cx="7498659" cy="5762329"/>
          </a:xfrm>
          <a:prstGeom prst="rect">
            <a:avLst/>
          </a:prstGeom>
        </p:spPr>
      </p:pic>
    </p:spTree>
    <p:extLst>
      <p:ext uri="{BB962C8B-B14F-4D97-AF65-F5344CB8AC3E}">
        <p14:creationId xmlns:p14="http://schemas.microsoft.com/office/powerpoint/2010/main" val="1803916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94BC-4BF0-4E24-9253-335ED86071BE}"/>
              </a:ext>
            </a:extLst>
          </p:cNvPr>
          <p:cNvSpPr>
            <a:spLocks noGrp="1"/>
          </p:cNvSpPr>
          <p:nvPr>
            <p:ph type="title"/>
          </p:nvPr>
        </p:nvSpPr>
        <p:spPr/>
        <p:txBody>
          <a:bodyPr/>
          <a:lstStyle/>
          <a:p>
            <a:r>
              <a:rPr lang="es-ES" b="0" i="0" dirty="0">
                <a:solidFill>
                  <a:srgbClr val="212121"/>
                </a:solidFill>
                <a:effectLst/>
                <a:latin typeface="wf_segoe-ui_normal"/>
              </a:rPr>
              <a:t> Toma de muestra</a:t>
            </a:r>
            <a:endParaRPr lang="es-ES" dirty="0"/>
          </a:p>
        </p:txBody>
      </p:sp>
      <p:sp>
        <p:nvSpPr>
          <p:cNvPr id="3" name="Marcador de contenido 2">
            <a:extLst>
              <a:ext uri="{FF2B5EF4-FFF2-40B4-BE49-F238E27FC236}">
                <a16:creationId xmlns:a16="http://schemas.microsoft.com/office/drawing/2014/main" id="{B418A308-5FEF-4060-934A-F82017027B4E}"/>
              </a:ext>
            </a:extLst>
          </p:cNvPr>
          <p:cNvSpPr>
            <a:spLocks noGrp="1"/>
          </p:cNvSpPr>
          <p:nvPr>
            <p:ph idx="1"/>
          </p:nvPr>
        </p:nvSpPr>
        <p:spPr/>
        <p:txBody>
          <a:bodyPr>
            <a:noAutofit/>
          </a:bodyPr>
          <a:lstStyle/>
          <a:p>
            <a:pPr marL="0" indent="0">
              <a:buNone/>
            </a:pPr>
            <a:r>
              <a:rPr lang="es-ES" sz="2100" dirty="0">
                <a:latin typeface="Arial" panose="020B0604020202020204" pitchFamily="34" charset="0"/>
                <a:cs typeface="Arial" panose="020B0604020202020204" pitchFamily="34" charset="0"/>
              </a:rPr>
              <a:t>La muestra de sangre seca en papel debe obtenerse, de forma general, entre las 24 y las 72 horas de vida.</a:t>
            </a:r>
          </a:p>
          <a:p>
            <a:pPr marL="0" indent="0">
              <a:buNone/>
            </a:pPr>
            <a:endParaRPr lang="es-ES" sz="2100" dirty="0">
              <a:latin typeface="Arial" panose="020B0604020202020204" pitchFamily="34" charset="0"/>
              <a:cs typeface="Arial" panose="020B0604020202020204" pitchFamily="34" charset="0"/>
            </a:endParaRPr>
          </a:p>
          <a:p>
            <a:pPr marL="0" indent="0">
              <a:buNone/>
            </a:pPr>
            <a:r>
              <a:rPr lang="es-ES" sz="2100" dirty="0">
                <a:latin typeface="Arial" panose="020B0604020202020204" pitchFamily="34" charset="0"/>
                <a:cs typeface="Arial" panose="020B0604020202020204" pitchFamily="34" charset="0"/>
              </a:rPr>
              <a:t>Este intervalo intenta equilibrar dos necesidades:</a:t>
            </a:r>
          </a:p>
          <a:p>
            <a:r>
              <a:rPr lang="es-ES" sz="1800" dirty="0">
                <a:latin typeface="Arial" panose="020B0604020202020204" pitchFamily="34" charset="0"/>
                <a:cs typeface="Arial" panose="020B0604020202020204" pitchFamily="34" charset="0"/>
              </a:rPr>
              <a:t>Disponer de tiempo suficiente para que determinados marcadores alcancen una expresión analítica útil.</a:t>
            </a:r>
          </a:p>
          <a:p>
            <a:r>
              <a:rPr lang="es-ES" sz="1800" dirty="0">
                <a:latin typeface="Arial" panose="020B0604020202020204" pitchFamily="34" charset="0"/>
                <a:cs typeface="Arial" panose="020B0604020202020204" pitchFamily="34" charset="0"/>
              </a:rPr>
              <a:t>Evitar un retraso excesivo que comprometa la detección precoz y el inicio del tratamiento.</a:t>
            </a:r>
          </a:p>
          <a:p>
            <a:pPr marL="0" indent="0">
              <a:buNone/>
            </a:pPr>
            <a:endParaRPr lang="es-ES" sz="2100" dirty="0">
              <a:latin typeface="Arial" panose="020B0604020202020204" pitchFamily="34" charset="0"/>
              <a:cs typeface="Arial" panose="020B0604020202020204" pitchFamily="34" charset="0"/>
            </a:endParaRPr>
          </a:p>
          <a:p>
            <a:pPr marL="0" indent="0">
              <a:buNone/>
            </a:pPr>
            <a:r>
              <a:rPr lang="es-ES" sz="2100" dirty="0">
                <a:latin typeface="Arial" panose="020B0604020202020204" pitchFamily="34" charset="0"/>
                <a:cs typeface="Arial" panose="020B0604020202020204" pitchFamily="34" charset="0"/>
              </a:rPr>
              <a:t>Las muestras tomadas demasiado precozmente pueden dificultar la interpretación de algunos analitos y aumentar la probabilidad de resultados no concluyentes o de necesidad de repetición. Por el contrario, una toma tardía reduce la oportunidad del programa y puede retrasar el abordaje clínico en patologías tiempo-dependientes.</a:t>
            </a:r>
          </a:p>
        </p:txBody>
      </p:sp>
    </p:spTree>
    <p:extLst>
      <p:ext uri="{BB962C8B-B14F-4D97-AF65-F5344CB8AC3E}">
        <p14:creationId xmlns:p14="http://schemas.microsoft.com/office/powerpoint/2010/main" val="1514103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4F633D-73DB-4EEF-BD82-1C3276D58A44}"/>
              </a:ext>
            </a:extLst>
          </p:cNvPr>
          <p:cNvSpPr>
            <a:spLocks noGrp="1"/>
          </p:cNvSpPr>
          <p:nvPr>
            <p:ph type="title"/>
          </p:nvPr>
        </p:nvSpPr>
        <p:spPr/>
        <p:txBody>
          <a:bodyPr/>
          <a:lstStyle/>
          <a:p>
            <a:r>
              <a:rPr lang="es-ES" b="0" i="0" dirty="0">
                <a:solidFill>
                  <a:srgbClr val="212121"/>
                </a:solidFill>
                <a:effectLst/>
                <a:latin typeface="wf_segoe-ui_normal"/>
              </a:rPr>
              <a:t>Identificación inequívoca y trazabilidad</a:t>
            </a:r>
            <a:endParaRPr lang="es-ES" dirty="0"/>
          </a:p>
        </p:txBody>
      </p:sp>
      <p:sp>
        <p:nvSpPr>
          <p:cNvPr id="3" name="Marcador de contenido 2">
            <a:extLst>
              <a:ext uri="{FF2B5EF4-FFF2-40B4-BE49-F238E27FC236}">
                <a16:creationId xmlns:a16="http://schemas.microsoft.com/office/drawing/2014/main" id="{33F2ED00-4451-4A13-878A-C45FF5C7B212}"/>
              </a:ext>
            </a:extLst>
          </p:cNvPr>
          <p:cNvSpPr>
            <a:spLocks noGrp="1"/>
          </p:cNvSpPr>
          <p:nvPr>
            <p:ph idx="1"/>
          </p:nvPr>
        </p:nvSpPr>
        <p:spPr/>
        <p:txBody>
          <a:bodyPr>
            <a:normAutofit fontScale="25000" lnSpcReduction="20000"/>
          </a:bodyPr>
          <a:lstStyle/>
          <a:p>
            <a:pPr marL="0" indent="0" algn="l">
              <a:buNone/>
            </a:pPr>
            <a:r>
              <a:rPr lang="es-ES" sz="8400" b="0" i="0" dirty="0">
                <a:solidFill>
                  <a:srgbClr val="212121"/>
                </a:solidFill>
                <a:effectLst/>
                <a:latin typeface="Arial" panose="020B0604020202020204" pitchFamily="34" charset="0"/>
                <a:cs typeface="Arial" panose="020B0604020202020204" pitchFamily="34" charset="0"/>
              </a:rPr>
              <a:t>La identificación correcta del recién nacido y de la muestra es un requisito esencial del programa.</a:t>
            </a:r>
          </a:p>
          <a:p>
            <a:pPr marL="0" indent="0" algn="l">
              <a:buNone/>
            </a:pPr>
            <a:endParaRPr lang="es-ES" sz="84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8400" b="0" i="0" dirty="0">
                <a:solidFill>
                  <a:srgbClr val="212121"/>
                </a:solidFill>
                <a:effectLst/>
                <a:latin typeface="Arial" panose="020B0604020202020204" pitchFamily="34" charset="0"/>
                <a:cs typeface="Arial" panose="020B0604020202020204" pitchFamily="34" charset="0"/>
              </a:rPr>
              <a:t>La tarjeta de cribado debe permitir:</a:t>
            </a:r>
          </a:p>
          <a:p>
            <a:pPr lvl="1"/>
            <a:r>
              <a:rPr lang="es-ES" sz="8000" dirty="0">
                <a:solidFill>
                  <a:srgbClr val="212121"/>
                </a:solidFill>
                <a:latin typeface="Arial" panose="020B0604020202020204" pitchFamily="34" charset="0"/>
                <a:cs typeface="Arial" panose="020B0604020202020204" pitchFamily="34" charset="0"/>
              </a:rPr>
              <a:t>I</a:t>
            </a:r>
            <a:r>
              <a:rPr lang="es-ES" sz="8000" b="0" i="0" dirty="0">
                <a:solidFill>
                  <a:srgbClr val="212121"/>
                </a:solidFill>
                <a:effectLst/>
                <a:latin typeface="Arial" panose="020B0604020202020204" pitchFamily="34" charset="0"/>
                <a:cs typeface="Arial" panose="020B0604020202020204" pitchFamily="34" charset="0"/>
              </a:rPr>
              <a:t>dentificar de forma inequívoca al recién nacido. </a:t>
            </a:r>
          </a:p>
          <a:p>
            <a:pPr lvl="1"/>
            <a:r>
              <a:rPr lang="es-ES" sz="8000" dirty="0">
                <a:solidFill>
                  <a:srgbClr val="212121"/>
                </a:solidFill>
                <a:latin typeface="Arial" panose="020B0604020202020204" pitchFamily="34" charset="0"/>
                <a:cs typeface="Arial" panose="020B0604020202020204" pitchFamily="34" charset="0"/>
              </a:rPr>
              <a:t>V</a:t>
            </a:r>
            <a:r>
              <a:rPr lang="es-ES" sz="8000" b="0" i="0" dirty="0">
                <a:solidFill>
                  <a:srgbClr val="212121"/>
                </a:solidFill>
                <a:effectLst/>
                <a:latin typeface="Arial" panose="020B0604020202020204" pitchFamily="34" charset="0"/>
                <a:cs typeface="Arial" panose="020B0604020202020204" pitchFamily="34" charset="0"/>
              </a:rPr>
              <a:t>incular la muestra con el episodio asistencial.</a:t>
            </a:r>
          </a:p>
          <a:p>
            <a:pPr lvl="1"/>
            <a:r>
              <a:rPr lang="es-ES" sz="8000" dirty="0">
                <a:solidFill>
                  <a:srgbClr val="212121"/>
                </a:solidFill>
                <a:latin typeface="Arial" panose="020B0604020202020204" pitchFamily="34" charset="0"/>
                <a:cs typeface="Arial" panose="020B0604020202020204" pitchFamily="34" charset="0"/>
              </a:rPr>
              <a:t>A</a:t>
            </a:r>
            <a:r>
              <a:rPr lang="es-ES" sz="8000" b="0" i="0" dirty="0">
                <a:solidFill>
                  <a:srgbClr val="212121"/>
                </a:solidFill>
                <a:effectLst/>
                <a:latin typeface="Arial" panose="020B0604020202020204" pitchFamily="34" charset="0"/>
                <a:cs typeface="Arial" panose="020B0604020202020204" pitchFamily="34" charset="0"/>
              </a:rPr>
              <a:t>segurar la trazabilidad de todas las etapas. </a:t>
            </a:r>
          </a:p>
          <a:p>
            <a:pPr lvl="1"/>
            <a:r>
              <a:rPr lang="es-ES" sz="8000" dirty="0">
                <a:solidFill>
                  <a:srgbClr val="212121"/>
                </a:solidFill>
                <a:latin typeface="Arial" panose="020B0604020202020204" pitchFamily="34" charset="0"/>
                <a:cs typeface="Arial" panose="020B0604020202020204" pitchFamily="34" charset="0"/>
              </a:rPr>
              <a:t>R</a:t>
            </a:r>
            <a:r>
              <a:rPr lang="es-ES" sz="8000" b="0" i="0" dirty="0">
                <a:solidFill>
                  <a:srgbClr val="212121"/>
                </a:solidFill>
                <a:effectLst/>
                <a:latin typeface="Arial" panose="020B0604020202020204" pitchFamily="34" charset="0"/>
                <a:cs typeface="Arial" panose="020B0604020202020204" pitchFamily="34" charset="0"/>
              </a:rPr>
              <a:t>ecuperar la información necesaria en caso de repetición, derivación o auditoría.</a:t>
            </a:r>
          </a:p>
          <a:p>
            <a:pPr marL="0" indent="0" algn="l">
              <a:buNone/>
            </a:pPr>
            <a:endParaRPr lang="es-ES" sz="84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8400" b="0" i="0" dirty="0">
                <a:solidFill>
                  <a:srgbClr val="212121"/>
                </a:solidFill>
                <a:effectLst/>
                <a:latin typeface="Arial" panose="020B0604020202020204" pitchFamily="34" charset="0"/>
                <a:cs typeface="Arial" panose="020B0604020202020204" pitchFamily="34" charset="0"/>
              </a:rPr>
              <a:t>La trazabilidad debe mantenerse desde la obtención de la muestra hasta la comunicación del resultado final y el cierre del caso. En este contexto, los errores de identificación no deben considerarse incidencias administrativas menores, sino fallos críticos con potencial repercusión clínica grave.</a:t>
            </a:r>
          </a:p>
          <a:p>
            <a:endParaRPr lang="es-ES" dirty="0"/>
          </a:p>
        </p:txBody>
      </p:sp>
    </p:spTree>
    <p:extLst>
      <p:ext uri="{BB962C8B-B14F-4D97-AF65-F5344CB8AC3E}">
        <p14:creationId xmlns:p14="http://schemas.microsoft.com/office/powerpoint/2010/main" val="981815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63510E-2291-4EC2-BAD5-EC156BA37EE9}"/>
              </a:ext>
            </a:extLst>
          </p:cNvPr>
          <p:cNvSpPr>
            <a:spLocks noGrp="1"/>
          </p:cNvSpPr>
          <p:nvPr>
            <p:ph type="title"/>
          </p:nvPr>
        </p:nvSpPr>
        <p:spPr/>
        <p:txBody>
          <a:bodyPr/>
          <a:lstStyle/>
          <a:p>
            <a:r>
              <a:rPr lang="es-ES" b="0" i="0" dirty="0">
                <a:solidFill>
                  <a:srgbClr val="212121"/>
                </a:solidFill>
                <a:effectLst/>
                <a:latin typeface="wf_segoe-ui_normal"/>
              </a:rPr>
              <a:t>Información clínica mínima necesaria</a:t>
            </a:r>
            <a:endParaRPr lang="es-ES" dirty="0"/>
          </a:p>
        </p:txBody>
      </p:sp>
      <p:sp>
        <p:nvSpPr>
          <p:cNvPr id="3" name="Marcador de contenido 2">
            <a:extLst>
              <a:ext uri="{FF2B5EF4-FFF2-40B4-BE49-F238E27FC236}">
                <a16:creationId xmlns:a16="http://schemas.microsoft.com/office/drawing/2014/main" id="{A0D30664-4051-4F04-92CB-26DBF527FF2A}"/>
              </a:ext>
            </a:extLst>
          </p:cNvPr>
          <p:cNvSpPr>
            <a:spLocks noGrp="1"/>
          </p:cNvSpPr>
          <p:nvPr>
            <p:ph idx="1"/>
          </p:nvPr>
        </p:nvSpPr>
        <p:spPr/>
        <p:txBody>
          <a:bodyPr>
            <a:normAutofit fontScale="85000" lnSpcReduction="20000"/>
          </a:bodyPr>
          <a:lstStyle/>
          <a:p>
            <a:pPr marL="0" indent="0" algn="just">
              <a:buNone/>
            </a:pPr>
            <a:r>
              <a:rPr lang="es-ES" b="0" i="0" dirty="0">
                <a:solidFill>
                  <a:srgbClr val="212121"/>
                </a:solidFill>
                <a:effectLst/>
                <a:latin typeface="Arial" panose="020B0604020202020204" pitchFamily="34" charset="0"/>
                <a:cs typeface="Arial" panose="020B0604020202020204" pitchFamily="34" charset="0"/>
              </a:rPr>
              <a:t>La interpretación adecuada del cribado neonatal requiere disponer, junto a la muestra, de información clínica básica. Entre los datos más relevantes se incluyen:</a:t>
            </a:r>
          </a:p>
          <a:p>
            <a:pPr algn="l"/>
            <a:r>
              <a:rPr lang="es-ES" dirty="0">
                <a:solidFill>
                  <a:srgbClr val="212121"/>
                </a:solidFill>
                <a:latin typeface="Arial" panose="020B0604020202020204" pitchFamily="34" charset="0"/>
                <a:cs typeface="Arial" panose="020B0604020202020204" pitchFamily="34" charset="0"/>
              </a:rPr>
              <a:t>F</a:t>
            </a:r>
            <a:r>
              <a:rPr lang="es-ES" b="0" i="0" dirty="0">
                <a:solidFill>
                  <a:srgbClr val="212121"/>
                </a:solidFill>
                <a:effectLst/>
                <a:latin typeface="Arial" panose="020B0604020202020204" pitchFamily="34" charset="0"/>
                <a:cs typeface="Arial" panose="020B0604020202020204" pitchFamily="34" charset="0"/>
              </a:rPr>
              <a:t>echa y hora de nacimiento, fecha y hora de extracción. </a:t>
            </a:r>
          </a:p>
          <a:p>
            <a:pPr algn="l"/>
            <a:r>
              <a:rPr lang="es-ES" b="0" i="0" dirty="0">
                <a:solidFill>
                  <a:srgbClr val="212121"/>
                </a:solidFill>
                <a:effectLst/>
                <a:latin typeface="Arial" panose="020B0604020202020204" pitchFamily="34" charset="0"/>
                <a:cs typeface="Arial" panose="020B0604020202020204" pitchFamily="34" charset="0"/>
              </a:rPr>
              <a:t>Sexo, peso y edad gestacional.  </a:t>
            </a:r>
          </a:p>
          <a:p>
            <a:pPr algn="l"/>
            <a:r>
              <a:rPr lang="es-ES" b="0" i="0" dirty="0">
                <a:solidFill>
                  <a:srgbClr val="212121"/>
                </a:solidFill>
                <a:effectLst/>
                <a:latin typeface="Arial" panose="020B0604020202020204" pitchFamily="34" charset="0"/>
                <a:cs typeface="Arial" panose="020B0604020202020204" pitchFamily="34" charset="0"/>
              </a:rPr>
              <a:t>Hospital o centro de nacimiento.  </a:t>
            </a:r>
          </a:p>
          <a:p>
            <a:pPr algn="l"/>
            <a:r>
              <a:rPr lang="es-ES" dirty="0">
                <a:solidFill>
                  <a:srgbClr val="212121"/>
                </a:solidFill>
                <a:latin typeface="Arial" panose="020B0604020202020204" pitchFamily="34" charset="0"/>
                <a:cs typeface="Arial" panose="020B0604020202020204" pitchFamily="34" charset="0"/>
              </a:rPr>
              <a:t>P</a:t>
            </a:r>
            <a:r>
              <a:rPr lang="es-ES" b="0" i="0" dirty="0">
                <a:solidFill>
                  <a:srgbClr val="212121"/>
                </a:solidFill>
                <a:effectLst/>
                <a:latin typeface="Arial" panose="020B0604020202020204" pitchFamily="34" charset="0"/>
                <a:cs typeface="Arial" panose="020B0604020202020204" pitchFamily="34" charset="0"/>
              </a:rPr>
              <a:t>rematuridad o muy bajo peso.  </a:t>
            </a:r>
          </a:p>
          <a:p>
            <a:pPr algn="l"/>
            <a:r>
              <a:rPr lang="es-ES" dirty="0">
                <a:solidFill>
                  <a:srgbClr val="212121"/>
                </a:solidFill>
                <a:latin typeface="Arial" panose="020B0604020202020204" pitchFamily="34" charset="0"/>
                <a:cs typeface="Arial" panose="020B0604020202020204" pitchFamily="34" charset="0"/>
              </a:rPr>
              <a:t>T</a:t>
            </a:r>
            <a:r>
              <a:rPr lang="es-ES" b="0" i="0" dirty="0">
                <a:solidFill>
                  <a:srgbClr val="212121"/>
                </a:solidFill>
                <a:effectLst/>
                <a:latin typeface="Arial" panose="020B0604020202020204" pitchFamily="34" charset="0"/>
                <a:cs typeface="Arial" panose="020B0604020202020204" pitchFamily="34" charset="0"/>
              </a:rPr>
              <a:t>ransfusiones previas, fecha y tipo, nutrición parenteral, tratamientos farmacológicos relevantes.</a:t>
            </a:r>
          </a:p>
          <a:p>
            <a:pPr algn="l"/>
            <a:r>
              <a:rPr lang="es-ES" b="0" i="0" dirty="0">
                <a:solidFill>
                  <a:srgbClr val="212121"/>
                </a:solidFill>
                <a:effectLst/>
                <a:latin typeface="Arial" panose="020B0604020202020204" pitchFamily="34" charset="0"/>
                <a:cs typeface="Arial" panose="020B0604020202020204" pitchFamily="34" charset="0"/>
              </a:rPr>
              <a:t>Incidencias clínicas específicas que puedan modificar la interpretación.</a:t>
            </a:r>
          </a:p>
          <a:p>
            <a:pPr marL="0" indent="0" algn="l">
              <a:buNone/>
            </a:pPr>
            <a:r>
              <a:rPr lang="es-ES" b="0" i="0" dirty="0">
                <a:solidFill>
                  <a:srgbClr val="212121"/>
                </a:solidFill>
                <a:effectLst/>
                <a:latin typeface="Arial" panose="020B0604020202020204" pitchFamily="34" charset="0"/>
                <a:cs typeface="Arial" panose="020B0604020202020204" pitchFamily="34" charset="0"/>
              </a:rPr>
              <a:t>La ausencia de estos datos limita la validación facultativa, dificulta la aplicación correcta de los algoritmos de decisión y puede incrementar la necesidad de segundas muestras o de interpretaciones conservadoras.</a:t>
            </a:r>
          </a:p>
          <a:p>
            <a:pPr marL="0" indent="0">
              <a:buNone/>
            </a:pPr>
            <a:endParaRPr lang="es-ES" dirty="0"/>
          </a:p>
        </p:txBody>
      </p:sp>
    </p:spTree>
    <p:extLst>
      <p:ext uri="{BB962C8B-B14F-4D97-AF65-F5344CB8AC3E}">
        <p14:creationId xmlns:p14="http://schemas.microsoft.com/office/powerpoint/2010/main" val="2884403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D470CE-8091-4279-BE1E-00E77CF68A41}"/>
              </a:ext>
            </a:extLst>
          </p:cNvPr>
          <p:cNvSpPr>
            <a:spLocks noGrp="1"/>
          </p:cNvSpPr>
          <p:nvPr>
            <p:ph type="title"/>
          </p:nvPr>
        </p:nvSpPr>
        <p:spPr/>
        <p:txBody>
          <a:bodyPr/>
          <a:lstStyle/>
          <a:p>
            <a:r>
              <a:rPr lang="es-ES" b="0" i="0" dirty="0">
                <a:solidFill>
                  <a:srgbClr val="212121"/>
                </a:solidFill>
                <a:effectLst/>
                <a:latin typeface="wf_segoe-ui_normal"/>
              </a:rPr>
              <a:t>Calidad de la muestra en papel de filtro</a:t>
            </a:r>
            <a:endParaRPr lang="es-ES" dirty="0"/>
          </a:p>
        </p:txBody>
      </p:sp>
      <p:sp>
        <p:nvSpPr>
          <p:cNvPr id="3" name="Marcador de contenido 2">
            <a:extLst>
              <a:ext uri="{FF2B5EF4-FFF2-40B4-BE49-F238E27FC236}">
                <a16:creationId xmlns:a16="http://schemas.microsoft.com/office/drawing/2014/main" id="{1A31CBA4-24ED-4994-BCAD-5C9C160B2F2F}"/>
              </a:ext>
            </a:extLst>
          </p:cNvPr>
          <p:cNvSpPr>
            <a:spLocks noGrp="1"/>
          </p:cNvSpPr>
          <p:nvPr>
            <p:ph idx="1"/>
          </p:nvPr>
        </p:nvSpPr>
        <p:spPr>
          <a:xfrm>
            <a:off x="838200" y="1825625"/>
            <a:ext cx="10515600" cy="4667250"/>
          </a:xfrm>
        </p:spPr>
        <p:txBody>
          <a:bodyPr>
            <a:normAutofit fontScale="55000" lnSpcReduction="20000"/>
          </a:bodyPr>
          <a:lstStyle/>
          <a:p>
            <a:pPr marL="0" indent="0" algn="l">
              <a:buNone/>
            </a:pPr>
            <a:r>
              <a:rPr lang="es-ES" sz="3800" b="0" i="0" dirty="0">
                <a:solidFill>
                  <a:srgbClr val="212121"/>
                </a:solidFill>
                <a:effectLst/>
                <a:latin typeface="Arial" panose="020B0604020202020204" pitchFamily="34" charset="0"/>
                <a:cs typeface="Arial" panose="020B0604020202020204" pitchFamily="34" charset="0"/>
              </a:rPr>
              <a:t>La muestra debe obtenerse con técnica correcta y con una impregnación adecuada del papel de filtro. El laboratorio debe vigilar especialmente la presencia de incidencias como:</a:t>
            </a:r>
          </a:p>
          <a:p>
            <a:pPr algn="l"/>
            <a:r>
              <a:rPr lang="es-ES" b="0" i="0" dirty="0">
                <a:solidFill>
                  <a:srgbClr val="212121"/>
                </a:solidFill>
                <a:effectLst/>
                <a:latin typeface="Arial" panose="020B0604020202020204" pitchFamily="34" charset="0"/>
                <a:cs typeface="Arial" panose="020B0604020202020204" pitchFamily="34" charset="0"/>
              </a:rPr>
              <a:t>Muestra insuficiente o escasa. </a:t>
            </a:r>
          </a:p>
          <a:p>
            <a:pPr algn="l"/>
            <a:r>
              <a:rPr lang="es-ES" dirty="0">
                <a:solidFill>
                  <a:srgbClr val="212121"/>
                </a:solidFill>
                <a:latin typeface="Arial" panose="020B0604020202020204" pitchFamily="34" charset="0"/>
                <a:cs typeface="Arial" panose="020B0604020202020204" pitchFamily="34" charset="0"/>
              </a:rPr>
              <a:t>I</a:t>
            </a:r>
            <a:r>
              <a:rPr lang="es-ES" b="0" i="0" dirty="0">
                <a:solidFill>
                  <a:srgbClr val="212121"/>
                </a:solidFill>
                <a:effectLst/>
                <a:latin typeface="Arial" panose="020B0604020202020204" pitchFamily="34" charset="0"/>
                <a:cs typeface="Arial" panose="020B0604020202020204" pitchFamily="34" charset="0"/>
              </a:rPr>
              <a:t>mpregnación incompleta o no homogénea.</a:t>
            </a:r>
          </a:p>
          <a:p>
            <a:pPr algn="l"/>
            <a:r>
              <a:rPr lang="es-ES" dirty="0">
                <a:solidFill>
                  <a:srgbClr val="212121"/>
                </a:solidFill>
                <a:latin typeface="Arial" panose="020B0604020202020204" pitchFamily="34" charset="0"/>
                <a:cs typeface="Arial" panose="020B0604020202020204" pitchFamily="34" charset="0"/>
              </a:rPr>
              <a:t>S</a:t>
            </a:r>
            <a:r>
              <a:rPr lang="es-ES" b="0" i="0" dirty="0">
                <a:solidFill>
                  <a:srgbClr val="212121"/>
                </a:solidFill>
                <a:effectLst/>
                <a:latin typeface="Arial" panose="020B0604020202020204" pitchFamily="34" charset="0"/>
                <a:cs typeface="Arial" panose="020B0604020202020204" pitchFamily="34" charset="0"/>
              </a:rPr>
              <a:t>aturación.</a:t>
            </a:r>
          </a:p>
          <a:p>
            <a:pPr algn="l"/>
            <a:r>
              <a:rPr lang="es-ES" dirty="0">
                <a:solidFill>
                  <a:srgbClr val="212121"/>
                </a:solidFill>
                <a:latin typeface="Arial" panose="020B0604020202020204" pitchFamily="34" charset="0"/>
                <a:cs typeface="Arial" panose="020B0604020202020204" pitchFamily="34" charset="0"/>
              </a:rPr>
              <a:t>S</a:t>
            </a:r>
            <a:r>
              <a:rPr lang="es-ES" b="0" i="0" dirty="0">
                <a:solidFill>
                  <a:srgbClr val="212121"/>
                </a:solidFill>
                <a:effectLst/>
                <a:latin typeface="Arial" panose="020B0604020202020204" pitchFamily="34" charset="0"/>
                <a:cs typeface="Arial" panose="020B0604020202020204" pitchFamily="34" charset="0"/>
              </a:rPr>
              <a:t>uperposición de gotas. </a:t>
            </a:r>
          </a:p>
          <a:p>
            <a:pPr algn="l"/>
            <a:r>
              <a:rPr lang="es-ES" dirty="0">
                <a:solidFill>
                  <a:srgbClr val="212121"/>
                </a:solidFill>
                <a:latin typeface="Arial" panose="020B0604020202020204" pitchFamily="34" charset="0"/>
                <a:cs typeface="Arial" panose="020B0604020202020204" pitchFamily="34" charset="0"/>
              </a:rPr>
              <a:t>D</a:t>
            </a:r>
            <a:r>
              <a:rPr lang="es-ES" b="0" i="0" dirty="0">
                <a:solidFill>
                  <a:srgbClr val="212121"/>
                </a:solidFill>
                <a:effectLst/>
                <a:latin typeface="Arial" panose="020B0604020202020204" pitchFamily="34" charset="0"/>
                <a:cs typeface="Arial" panose="020B0604020202020204" pitchFamily="34" charset="0"/>
              </a:rPr>
              <a:t>eterioro del papel.  </a:t>
            </a:r>
          </a:p>
          <a:p>
            <a:pPr marL="0" indent="0" algn="l">
              <a:buNone/>
            </a:pPr>
            <a:endParaRPr lang="es-ES" sz="3400" b="0" i="0" dirty="0">
              <a:solidFill>
                <a:srgbClr val="212121"/>
              </a:solidFill>
              <a:effectLst/>
              <a:latin typeface="Arial" panose="020B0604020202020204" pitchFamily="34" charset="0"/>
              <a:cs typeface="Arial" panose="020B0604020202020204" pitchFamily="34" charset="0"/>
            </a:endParaRPr>
          </a:p>
          <a:p>
            <a:pPr marL="0" indent="0" algn="l">
              <a:buNone/>
            </a:pPr>
            <a:r>
              <a:rPr lang="es-ES" sz="3800" b="0" i="0" dirty="0">
                <a:solidFill>
                  <a:srgbClr val="212121"/>
                </a:solidFill>
                <a:effectLst/>
                <a:latin typeface="Arial" panose="020B0604020202020204" pitchFamily="34" charset="0"/>
                <a:cs typeface="Arial" panose="020B0604020202020204" pitchFamily="34" charset="0"/>
              </a:rPr>
              <a:t>Estas incidencias condicionan rechazo, solicitud de nueva muestra o limitación de la interpretación. En el cribado neonatal, la aceptación acrítica de una muestra de mala calidad puede ser más perjudicial que su rechazo, ya que genera una falsa sensación de seguridad diagnóstica.</a:t>
            </a:r>
          </a:p>
          <a:p>
            <a:pPr marL="0" indent="0">
              <a:buNone/>
            </a:pPr>
            <a:r>
              <a:rPr lang="es-ES" sz="3800" dirty="0">
                <a:solidFill>
                  <a:srgbClr val="212121"/>
                </a:solidFill>
                <a:latin typeface="Arial" panose="020B0604020202020204" pitchFamily="34" charset="0"/>
                <a:cs typeface="Arial" panose="020B0604020202020204" pitchFamily="34" charset="0"/>
              </a:rPr>
              <a:t>Las recomendaciones técnicas insisten en que el secado debe realizarse en horizontal, a temperatura ambiente, durante un tiempo suficiente antes del envío. Si el transporte se retrasa, las condiciones de almacenamiento cobran especial importancia para preservar la estabilidad de los analitos.</a:t>
            </a:r>
          </a:p>
        </p:txBody>
      </p:sp>
    </p:spTree>
    <p:extLst>
      <p:ext uri="{BB962C8B-B14F-4D97-AF65-F5344CB8AC3E}">
        <p14:creationId xmlns:p14="http://schemas.microsoft.com/office/powerpoint/2010/main" val="57917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52AC60-EFCB-4D27-A4F0-8805F1EEF742}"/>
              </a:ext>
            </a:extLst>
          </p:cNvPr>
          <p:cNvSpPr>
            <a:spLocks noGrp="1"/>
          </p:cNvSpPr>
          <p:nvPr>
            <p:ph type="title"/>
          </p:nvPr>
        </p:nvSpPr>
        <p:spPr/>
        <p:txBody>
          <a:bodyPr/>
          <a:lstStyle/>
          <a:p>
            <a:r>
              <a:rPr lang="es-ES" b="0" i="0" dirty="0">
                <a:solidFill>
                  <a:srgbClr val="212121"/>
                </a:solidFill>
                <a:effectLst/>
                <a:latin typeface="wf_segoe-ui_normal"/>
              </a:rPr>
              <a:t>Fase analítica: características generales</a:t>
            </a:r>
            <a:endParaRPr lang="es-ES" dirty="0"/>
          </a:p>
        </p:txBody>
      </p:sp>
      <p:sp>
        <p:nvSpPr>
          <p:cNvPr id="3" name="Marcador de contenido 2">
            <a:extLst>
              <a:ext uri="{FF2B5EF4-FFF2-40B4-BE49-F238E27FC236}">
                <a16:creationId xmlns:a16="http://schemas.microsoft.com/office/drawing/2014/main" id="{61B34274-FFC2-475F-9463-606E52F4962D}"/>
              </a:ext>
            </a:extLst>
          </p:cNvPr>
          <p:cNvSpPr>
            <a:spLocks noGrp="1"/>
          </p:cNvSpPr>
          <p:nvPr>
            <p:ph idx="1"/>
          </p:nvPr>
        </p:nvSpPr>
        <p:spPr/>
        <p:txBody>
          <a:bodyPr>
            <a:normAutofit fontScale="77500" lnSpcReduction="20000"/>
          </a:bodyPr>
          <a:lstStyle/>
          <a:p>
            <a:pPr marL="0" indent="0" algn="l">
              <a:buNone/>
            </a:pPr>
            <a:r>
              <a:rPr lang="es-ES" b="0" i="0" dirty="0">
                <a:solidFill>
                  <a:srgbClr val="212121"/>
                </a:solidFill>
                <a:effectLst/>
                <a:latin typeface="Arial" panose="020B0604020202020204" pitchFamily="34" charset="0"/>
                <a:cs typeface="Arial" panose="020B0604020202020204" pitchFamily="34" charset="0"/>
              </a:rPr>
              <a:t>La fase analítica del cribado neonatal presenta particularidades que la diferencian de otras áreas del laboratorio:</a:t>
            </a:r>
          </a:p>
          <a:p>
            <a:pPr algn="l"/>
            <a:r>
              <a:rPr lang="es-ES" dirty="0">
                <a:solidFill>
                  <a:srgbClr val="212121"/>
                </a:solidFill>
                <a:latin typeface="Arial" panose="020B0604020202020204" pitchFamily="34" charset="0"/>
                <a:cs typeface="Arial" panose="020B0604020202020204" pitchFamily="34" charset="0"/>
              </a:rPr>
              <a:t>T</a:t>
            </a:r>
            <a:r>
              <a:rPr lang="es-ES" b="0" i="0" dirty="0">
                <a:solidFill>
                  <a:srgbClr val="212121"/>
                </a:solidFill>
                <a:effectLst/>
                <a:latin typeface="Arial" panose="020B0604020202020204" pitchFamily="34" charset="0"/>
                <a:cs typeface="Arial" panose="020B0604020202020204" pitchFamily="34" charset="0"/>
              </a:rPr>
              <a:t>rabaja sobre sangre seca en papel.  </a:t>
            </a:r>
          </a:p>
          <a:p>
            <a:pPr algn="l"/>
            <a:r>
              <a:rPr lang="es-ES" dirty="0">
                <a:solidFill>
                  <a:srgbClr val="212121"/>
                </a:solidFill>
                <a:latin typeface="Arial" panose="020B0604020202020204" pitchFamily="34" charset="0"/>
                <a:cs typeface="Arial" panose="020B0604020202020204" pitchFamily="34" charset="0"/>
              </a:rPr>
              <a:t>M</a:t>
            </a:r>
            <a:r>
              <a:rPr lang="es-ES" b="0" i="0" dirty="0">
                <a:solidFill>
                  <a:srgbClr val="212121"/>
                </a:solidFill>
                <a:effectLst/>
                <a:latin typeface="Arial" panose="020B0604020202020204" pitchFamily="34" charset="0"/>
                <a:cs typeface="Arial" panose="020B0604020202020204" pitchFamily="34" charset="0"/>
              </a:rPr>
              <a:t>aneja grandes volúmenes poblacionales.</a:t>
            </a:r>
          </a:p>
          <a:p>
            <a:pPr algn="l"/>
            <a:r>
              <a:rPr lang="es-ES" dirty="0">
                <a:solidFill>
                  <a:srgbClr val="212121"/>
                </a:solidFill>
                <a:latin typeface="Arial" panose="020B0604020202020204" pitchFamily="34" charset="0"/>
                <a:cs typeface="Arial" panose="020B0604020202020204" pitchFamily="34" charset="0"/>
              </a:rPr>
              <a:t>P</a:t>
            </a:r>
            <a:r>
              <a:rPr lang="es-ES" b="0" i="0" dirty="0">
                <a:solidFill>
                  <a:srgbClr val="212121"/>
                </a:solidFill>
                <a:effectLst/>
                <a:latin typeface="Arial" panose="020B0604020202020204" pitchFamily="34" charset="0"/>
                <a:cs typeface="Arial" panose="020B0604020202020204" pitchFamily="34" charset="0"/>
              </a:rPr>
              <a:t>rioriza sensibilidad y oportunidad diagnóstica.</a:t>
            </a:r>
          </a:p>
          <a:p>
            <a:pPr algn="l"/>
            <a:r>
              <a:rPr lang="es-ES" dirty="0">
                <a:solidFill>
                  <a:srgbClr val="212121"/>
                </a:solidFill>
                <a:latin typeface="Arial" panose="020B0604020202020204" pitchFamily="34" charset="0"/>
                <a:cs typeface="Arial" panose="020B0604020202020204" pitchFamily="34" charset="0"/>
              </a:rPr>
              <a:t>R</a:t>
            </a:r>
            <a:r>
              <a:rPr lang="es-ES" b="0" i="0" dirty="0">
                <a:solidFill>
                  <a:srgbClr val="212121"/>
                </a:solidFill>
                <a:effectLst/>
                <a:latin typeface="Arial" panose="020B0604020202020204" pitchFamily="34" charset="0"/>
                <a:cs typeface="Arial" panose="020B0604020202020204" pitchFamily="34" charset="0"/>
              </a:rPr>
              <a:t>equiere puntos de corte específicos.</a:t>
            </a:r>
          </a:p>
          <a:p>
            <a:pPr algn="l"/>
            <a:r>
              <a:rPr lang="es-ES" dirty="0">
                <a:solidFill>
                  <a:srgbClr val="212121"/>
                </a:solidFill>
                <a:latin typeface="Arial" panose="020B0604020202020204" pitchFamily="34" charset="0"/>
                <a:cs typeface="Arial" panose="020B0604020202020204" pitchFamily="34" charset="0"/>
              </a:rPr>
              <a:t>I</a:t>
            </a:r>
            <a:r>
              <a:rPr lang="es-ES" b="0" i="0" dirty="0">
                <a:solidFill>
                  <a:srgbClr val="212121"/>
                </a:solidFill>
                <a:effectLst/>
                <a:latin typeface="Arial" panose="020B0604020202020204" pitchFamily="34" charset="0"/>
                <a:cs typeface="Arial" panose="020B0604020202020204" pitchFamily="34" charset="0"/>
              </a:rPr>
              <a:t>ntegra con frecuencia perfiles </a:t>
            </a:r>
            <a:r>
              <a:rPr lang="es-ES" b="0" i="0" dirty="0" err="1">
                <a:solidFill>
                  <a:srgbClr val="212121"/>
                </a:solidFill>
                <a:effectLst/>
                <a:latin typeface="Arial" panose="020B0604020202020204" pitchFamily="34" charset="0"/>
                <a:cs typeface="Arial" panose="020B0604020202020204" pitchFamily="34" charset="0"/>
              </a:rPr>
              <a:t>multianalito</a:t>
            </a:r>
            <a:r>
              <a:rPr lang="es-ES" dirty="0">
                <a:solidFill>
                  <a:srgbClr val="212121"/>
                </a:solidFill>
                <a:latin typeface="Arial" panose="020B0604020202020204" pitchFamily="34" charset="0"/>
                <a:cs typeface="Arial" panose="020B0604020202020204" pitchFamily="34" charset="0"/>
              </a:rPr>
              <a:t>.</a:t>
            </a:r>
            <a:endParaRPr lang="es-ES" b="0" i="0" dirty="0">
              <a:solidFill>
                <a:srgbClr val="212121"/>
              </a:solidFill>
              <a:effectLst/>
              <a:latin typeface="Arial" panose="020B0604020202020204" pitchFamily="34" charset="0"/>
              <a:cs typeface="Arial" panose="020B0604020202020204" pitchFamily="34" charset="0"/>
            </a:endParaRPr>
          </a:p>
          <a:p>
            <a:pPr algn="l"/>
            <a:r>
              <a:rPr lang="es-ES" dirty="0">
                <a:solidFill>
                  <a:srgbClr val="212121"/>
                </a:solidFill>
                <a:latin typeface="Arial" panose="020B0604020202020204" pitchFamily="34" charset="0"/>
                <a:cs typeface="Arial" panose="020B0604020202020204" pitchFamily="34" charset="0"/>
              </a:rPr>
              <a:t>E</a:t>
            </a:r>
            <a:r>
              <a:rPr lang="es-ES" b="0" i="0" dirty="0">
                <a:solidFill>
                  <a:srgbClr val="212121"/>
                </a:solidFill>
                <a:effectLst/>
                <a:latin typeface="Arial" panose="020B0604020202020204" pitchFamily="34" charset="0"/>
                <a:cs typeface="Arial" panose="020B0604020202020204" pitchFamily="34" charset="0"/>
              </a:rPr>
              <a:t>xige validación contextualizada según edad, peso, situación clínica y condiciones preanalíticas.</a:t>
            </a:r>
          </a:p>
          <a:p>
            <a:pPr marL="0" indent="0" algn="l">
              <a:buNone/>
            </a:pPr>
            <a:endParaRPr lang="es-ES" b="0" i="0" dirty="0">
              <a:solidFill>
                <a:srgbClr val="212121"/>
              </a:solidFill>
              <a:effectLst/>
              <a:latin typeface="Arial" panose="020B0604020202020204" pitchFamily="34" charset="0"/>
              <a:cs typeface="Arial" panose="020B0604020202020204" pitchFamily="34" charset="0"/>
            </a:endParaRPr>
          </a:p>
          <a:p>
            <a:pPr marL="0" indent="0" algn="l">
              <a:buNone/>
            </a:pPr>
            <a:r>
              <a:rPr lang="es-ES" b="0" i="0" dirty="0">
                <a:solidFill>
                  <a:srgbClr val="212121"/>
                </a:solidFill>
                <a:effectLst/>
                <a:latin typeface="Arial" panose="020B0604020202020204" pitchFamily="34" charset="0"/>
                <a:cs typeface="Arial" panose="020B0604020202020204" pitchFamily="34" charset="0"/>
              </a:rPr>
              <a:t>Por tanto, el resultado analítico no puede interpretarse de forma aislada ni trasladarse automáticamente al lenguaje diagnóstico. Debe integrarse dentro de un algoritmo de cribado y de una toma de decisiones protocolizada.</a:t>
            </a:r>
          </a:p>
          <a:p>
            <a:endParaRPr lang="es-ES" dirty="0"/>
          </a:p>
        </p:txBody>
      </p:sp>
    </p:spTree>
    <p:extLst>
      <p:ext uri="{BB962C8B-B14F-4D97-AF65-F5344CB8AC3E}">
        <p14:creationId xmlns:p14="http://schemas.microsoft.com/office/powerpoint/2010/main" val="2654980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B8C85-4C4E-D1DE-9B88-9F2DF7B51F0F}"/>
              </a:ext>
            </a:extLst>
          </p:cNvPr>
          <p:cNvSpPr>
            <a:spLocks noGrp="1"/>
          </p:cNvSpPr>
          <p:nvPr>
            <p:ph type="title"/>
          </p:nvPr>
        </p:nvSpPr>
        <p:spPr/>
        <p:txBody>
          <a:bodyPr/>
          <a:lstStyle/>
          <a:p>
            <a:r>
              <a:rPr lang="es-ES" dirty="0"/>
              <a:t>Principales tecnologías analíticas en cribado neonatal</a:t>
            </a:r>
          </a:p>
        </p:txBody>
      </p:sp>
      <p:sp>
        <p:nvSpPr>
          <p:cNvPr id="3" name="Marcador de contenido 2">
            <a:extLst>
              <a:ext uri="{FF2B5EF4-FFF2-40B4-BE49-F238E27FC236}">
                <a16:creationId xmlns:a16="http://schemas.microsoft.com/office/drawing/2014/main" id="{73F06899-D6FA-ECD3-4DEA-11E915FDD255}"/>
              </a:ext>
            </a:extLst>
          </p:cNvPr>
          <p:cNvSpPr>
            <a:spLocks noGrp="1"/>
          </p:cNvSpPr>
          <p:nvPr>
            <p:ph idx="1"/>
          </p:nvPr>
        </p:nvSpPr>
        <p:spPr/>
        <p:txBody>
          <a:bodyPr>
            <a:normAutofit fontScale="77500" lnSpcReduction="20000"/>
          </a:bodyPr>
          <a:lstStyle/>
          <a:p>
            <a:pPr marL="0" indent="0">
              <a:buNone/>
            </a:pPr>
            <a:r>
              <a:rPr lang="es-ES" sz="2900" dirty="0">
                <a:latin typeface="Arial" panose="020B0604020202020204" pitchFamily="34" charset="0"/>
                <a:cs typeface="Arial" panose="020B0604020202020204" pitchFamily="34" charset="0"/>
              </a:rPr>
              <a:t>Las plataformas empleadas en cribado neonatal dependen de la enfermedad o grupo de enfermedades analizadas. De forma general, el laboratorio utiliza:</a:t>
            </a:r>
          </a:p>
          <a:p>
            <a:pPr marL="0" indent="0">
              <a:buNone/>
            </a:pPr>
            <a:endParaRPr lang="es-ES" sz="2900" dirty="0">
              <a:latin typeface="Arial" panose="020B0604020202020204" pitchFamily="34" charset="0"/>
              <a:cs typeface="Arial" panose="020B0604020202020204" pitchFamily="34" charset="0"/>
            </a:endParaRPr>
          </a:p>
          <a:p>
            <a:r>
              <a:rPr lang="es-ES" sz="2900" dirty="0">
                <a:latin typeface="Arial" panose="020B0604020202020204" pitchFamily="34" charset="0"/>
                <a:cs typeface="Arial" panose="020B0604020202020204" pitchFamily="34" charset="0"/>
              </a:rPr>
              <a:t>Inmunoensayos para determinados marcadores hormonales o proteicos.  </a:t>
            </a:r>
          </a:p>
          <a:p>
            <a:r>
              <a:rPr lang="es-ES" sz="2900" dirty="0">
                <a:latin typeface="Arial" panose="020B0604020202020204" pitchFamily="34" charset="0"/>
                <a:cs typeface="Arial" panose="020B0604020202020204" pitchFamily="34" charset="0"/>
              </a:rPr>
              <a:t>Espectrometría de masas en tándem para aminoácidos y </a:t>
            </a:r>
            <a:r>
              <a:rPr lang="es-ES" sz="2900" dirty="0" err="1">
                <a:latin typeface="Arial" panose="020B0604020202020204" pitchFamily="34" charset="0"/>
                <a:cs typeface="Arial" panose="020B0604020202020204" pitchFamily="34" charset="0"/>
              </a:rPr>
              <a:t>acilcarnitinas</a:t>
            </a:r>
            <a:r>
              <a:rPr lang="es-ES" sz="2900" dirty="0">
                <a:latin typeface="Arial" panose="020B0604020202020204" pitchFamily="34" charset="0"/>
                <a:cs typeface="Arial" panose="020B0604020202020204" pitchFamily="34" charset="0"/>
              </a:rPr>
              <a:t>.  </a:t>
            </a:r>
          </a:p>
          <a:p>
            <a:r>
              <a:rPr lang="es-ES" sz="2900" dirty="0">
                <a:latin typeface="Arial" panose="020B0604020202020204" pitchFamily="34" charset="0"/>
                <a:cs typeface="Arial" panose="020B0604020202020204" pitchFamily="34" charset="0"/>
              </a:rPr>
              <a:t>Técnicas específicas para hemoglobinopatías. </a:t>
            </a:r>
          </a:p>
          <a:p>
            <a:r>
              <a:rPr lang="es-ES" sz="2900" dirty="0">
                <a:latin typeface="Arial" panose="020B0604020202020204" pitchFamily="34" charset="0"/>
                <a:cs typeface="Arial" panose="020B0604020202020204" pitchFamily="34" charset="0"/>
              </a:rPr>
              <a:t>Procedimientos complementarios o de segundo nivel según el panel implantado.</a:t>
            </a:r>
          </a:p>
          <a:p>
            <a:pPr marL="0" indent="0">
              <a:buNone/>
            </a:pPr>
            <a:endParaRPr lang="es-ES" sz="2900" dirty="0">
              <a:latin typeface="Arial" panose="020B0604020202020204" pitchFamily="34" charset="0"/>
              <a:cs typeface="Arial" panose="020B0604020202020204" pitchFamily="34" charset="0"/>
            </a:endParaRPr>
          </a:p>
          <a:p>
            <a:pPr marL="0" indent="0">
              <a:buNone/>
            </a:pPr>
            <a:r>
              <a:rPr lang="es-ES" sz="2900" dirty="0">
                <a:latin typeface="Arial" panose="020B0604020202020204" pitchFamily="34" charset="0"/>
                <a:cs typeface="Arial" panose="020B0604020202020204" pitchFamily="34" charset="0"/>
              </a:rPr>
              <a:t>La incorporación progresiva de nuevas enfermedades y nuevos biomarcadores obliga a revisar continuamente la organización del laboratorio, la validación de los métodos, los puntos de corte y la relación entre cribado bioquímico y herramientas moleculares o funcionales cuando proceda.</a:t>
            </a:r>
          </a:p>
          <a:p>
            <a:endParaRPr lang="es-ES" dirty="0"/>
          </a:p>
        </p:txBody>
      </p:sp>
    </p:spTree>
    <p:extLst>
      <p:ext uri="{BB962C8B-B14F-4D97-AF65-F5344CB8AC3E}">
        <p14:creationId xmlns:p14="http://schemas.microsoft.com/office/powerpoint/2010/main" val="3075775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A5C221-3864-E1C9-3320-354D9517A858}"/>
              </a:ext>
            </a:extLst>
          </p:cNvPr>
          <p:cNvSpPr>
            <a:spLocks noGrp="1"/>
          </p:cNvSpPr>
          <p:nvPr>
            <p:ph type="title"/>
          </p:nvPr>
        </p:nvSpPr>
        <p:spPr/>
        <p:txBody>
          <a:bodyPr/>
          <a:lstStyle/>
          <a:p>
            <a:r>
              <a:rPr lang="es-ES" dirty="0"/>
              <a:t>Tiempo de respuesta del laboratorio</a:t>
            </a:r>
          </a:p>
        </p:txBody>
      </p:sp>
      <p:sp>
        <p:nvSpPr>
          <p:cNvPr id="3" name="Marcador de contenido 2">
            <a:extLst>
              <a:ext uri="{FF2B5EF4-FFF2-40B4-BE49-F238E27FC236}">
                <a16:creationId xmlns:a16="http://schemas.microsoft.com/office/drawing/2014/main" id="{D1F8A71A-CA30-9BD8-E502-904D8092868C}"/>
              </a:ext>
            </a:extLst>
          </p:cNvPr>
          <p:cNvSpPr>
            <a:spLocks noGrp="1"/>
          </p:cNvSpPr>
          <p:nvPr>
            <p:ph idx="1"/>
          </p:nvPr>
        </p:nvSpPr>
        <p:spPr/>
        <p:txBody>
          <a:bodyPr>
            <a:normAutofit fontScale="85000" lnSpcReduction="20000"/>
          </a:bodyPr>
          <a:lstStyle/>
          <a:p>
            <a:pPr marL="0" indent="0">
              <a:buNone/>
            </a:pPr>
            <a:r>
              <a:rPr lang="es-ES" dirty="0"/>
              <a:t>En cribado neonatal, el tiempo de respuesta es un componente esencial de la calidad. No basta con obtener un resultado fiable; ese resultado debe estar disponible con suficiente rapidez para permitir la actuación clínica precoz.</a:t>
            </a:r>
          </a:p>
          <a:p>
            <a:pPr marL="0" indent="0">
              <a:buNone/>
            </a:pPr>
            <a:r>
              <a:rPr lang="es-ES" dirty="0"/>
              <a:t>Los documentos técnicos del SNS establecen objetivos específicos de calidad para el tiempo máximo entre la recepción de la muestra y la disponibilidad del resultado de laboratorio. Asimismo, se monitoriza la edad a la detección y el tiempo hasta la derivación y el tratamiento.</a:t>
            </a:r>
          </a:p>
          <a:p>
            <a:pPr marL="0" indent="0">
              <a:buNone/>
            </a:pPr>
            <a:endParaRPr lang="es-ES" dirty="0"/>
          </a:p>
          <a:p>
            <a:pPr marL="0" indent="0">
              <a:buNone/>
            </a:pPr>
            <a:r>
              <a:rPr lang="es-ES" dirty="0"/>
              <a:t>Desde la perspectiva del servicio de cribado neonatal, esto obliga a garantizar:</a:t>
            </a:r>
          </a:p>
          <a:p>
            <a:r>
              <a:rPr lang="es-ES" dirty="0"/>
              <a:t>Recepción ágil de muestras. </a:t>
            </a:r>
          </a:p>
          <a:p>
            <a:r>
              <a:rPr lang="es-ES" dirty="0"/>
              <a:t>Continuidad asistencial.  </a:t>
            </a:r>
          </a:p>
          <a:p>
            <a:r>
              <a:rPr lang="es-ES" dirty="0"/>
              <a:t>Canales de comunicación bien definidos con las unidades clínicas.</a:t>
            </a:r>
          </a:p>
          <a:p>
            <a:endParaRPr lang="es-ES" dirty="0"/>
          </a:p>
        </p:txBody>
      </p:sp>
    </p:spTree>
    <p:extLst>
      <p:ext uri="{BB962C8B-B14F-4D97-AF65-F5344CB8AC3E}">
        <p14:creationId xmlns:p14="http://schemas.microsoft.com/office/powerpoint/2010/main" val="2189788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3D80-343D-D71A-2EE6-D1091EE2B14A}"/>
              </a:ext>
            </a:extLst>
          </p:cNvPr>
          <p:cNvSpPr>
            <a:spLocks noGrp="1"/>
          </p:cNvSpPr>
          <p:nvPr>
            <p:ph type="title"/>
          </p:nvPr>
        </p:nvSpPr>
        <p:spPr/>
        <p:txBody>
          <a:bodyPr/>
          <a:lstStyle/>
          <a:p>
            <a:r>
              <a:rPr lang="es-ES" dirty="0"/>
              <a:t>Repetición analítica y pruebas de segundo nivel</a:t>
            </a:r>
          </a:p>
        </p:txBody>
      </p:sp>
      <p:sp>
        <p:nvSpPr>
          <p:cNvPr id="3" name="Marcador de contenido 2">
            <a:extLst>
              <a:ext uri="{FF2B5EF4-FFF2-40B4-BE49-F238E27FC236}">
                <a16:creationId xmlns:a16="http://schemas.microsoft.com/office/drawing/2014/main" id="{1615C4FE-D989-B5ED-AD65-CC498EA5DBF7}"/>
              </a:ext>
            </a:extLst>
          </p:cNvPr>
          <p:cNvSpPr>
            <a:spLocks noGrp="1"/>
          </p:cNvSpPr>
          <p:nvPr>
            <p:ph idx="1"/>
          </p:nvPr>
        </p:nvSpPr>
        <p:spPr/>
        <p:txBody>
          <a:bodyPr>
            <a:normAutofit fontScale="55000" lnSpcReduction="20000"/>
          </a:bodyPr>
          <a:lstStyle/>
          <a:p>
            <a:pPr marL="0" indent="0">
              <a:buNone/>
            </a:pPr>
            <a:r>
              <a:rPr lang="es-ES" sz="3600" dirty="0">
                <a:latin typeface="Arial" panose="020B0604020202020204" pitchFamily="34" charset="0"/>
                <a:cs typeface="Arial" panose="020B0604020202020204" pitchFamily="34" charset="0"/>
              </a:rPr>
              <a:t>Cuando se detecta una alteración, el laboratorio debe aplicar criterios previamente definidos para decidir entre:</a:t>
            </a:r>
          </a:p>
          <a:p>
            <a:r>
              <a:rPr lang="es-ES" sz="3600" dirty="0">
                <a:latin typeface="Arial" panose="020B0604020202020204" pitchFamily="34" charset="0"/>
                <a:cs typeface="Arial" panose="020B0604020202020204" pitchFamily="34" charset="0"/>
              </a:rPr>
              <a:t>Repetición del análisis sobre la misma muestra.  </a:t>
            </a:r>
          </a:p>
          <a:p>
            <a:r>
              <a:rPr lang="es-ES" sz="3600" dirty="0">
                <a:latin typeface="Arial" panose="020B0604020202020204" pitchFamily="34" charset="0"/>
                <a:cs typeface="Arial" panose="020B0604020202020204" pitchFamily="34" charset="0"/>
              </a:rPr>
              <a:t>Solicitud de nueva muestra. </a:t>
            </a:r>
          </a:p>
          <a:p>
            <a:r>
              <a:rPr lang="es-ES" sz="3600" dirty="0">
                <a:latin typeface="Arial" panose="020B0604020202020204" pitchFamily="34" charset="0"/>
                <a:cs typeface="Arial" panose="020B0604020202020204" pitchFamily="34" charset="0"/>
              </a:rPr>
              <a:t>Realización de prueba de segundo nivel.  </a:t>
            </a:r>
          </a:p>
          <a:p>
            <a:r>
              <a:rPr lang="es-ES" sz="3600" dirty="0">
                <a:latin typeface="Arial" panose="020B0604020202020204" pitchFamily="34" charset="0"/>
                <a:cs typeface="Arial" panose="020B0604020202020204" pitchFamily="34" charset="0"/>
              </a:rPr>
              <a:t>Derivación directa a la unidad clínica de referencia.</a:t>
            </a:r>
          </a:p>
          <a:p>
            <a:pPr marL="0" indent="0">
              <a:buNone/>
            </a:pPr>
            <a:br>
              <a:rPr lang="es-ES" sz="3600" dirty="0">
                <a:latin typeface="Arial" panose="020B0604020202020204" pitchFamily="34" charset="0"/>
                <a:cs typeface="Arial" panose="020B0604020202020204" pitchFamily="34" charset="0"/>
              </a:rPr>
            </a:br>
            <a:endParaRPr lang="es-ES" sz="3600" dirty="0">
              <a:latin typeface="Arial" panose="020B0604020202020204" pitchFamily="34" charset="0"/>
              <a:cs typeface="Arial" panose="020B0604020202020204" pitchFamily="34" charset="0"/>
            </a:endParaRPr>
          </a:p>
          <a:p>
            <a:pPr marL="0" indent="0">
              <a:buNone/>
            </a:pPr>
            <a:r>
              <a:rPr lang="es-ES" sz="3600" dirty="0">
                <a:latin typeface="Arial" panose="020B0604020202020204" pitchFamily="34" charset="0"/>
                <a:cs typeface="Arial" panose="020B0604020202020204" pitchFamily="34" charset="0"/>
              </a:rPr>
              <a:t>Las pruebas de segundo nivel, cuando están disponibles, mejoran la especificidad del cribado y reducen derivaciones innecesarias, siempre que se integren dentro de un algoritmo validado. Su uso debe acompañarse de una revisión periódica de impacto sobre sensibilidad, valor predictivo positivo y tiempos de respuesta.</a:t>
            </a:r>
          </a:p>
          <a:p>
            <a:pPr marL="0" indent="0">
              <a:buNone/>
            </a:pPr>
            <a:r>
              <a:rPr lang="es-ES" sz="3600" dirty="0">
                <a:latin typeface="Arial" panose="020B0604020202020204" pitchFamily="34" charset="0"/>
                <a:cs typeface="Arial" panose="020B0604020202020204" pitchFamily="34" charset="0"/>
              </a:rPr>
              <a:t>El valor del laboratorio no reside únicamente en medir analitos, sino en organizar una secuencia analítica eficiente que maximice el beneficio clínico del programa.</a:t>
            </a:r>
          </a:p>
          <a:p>
            <a:endParaRPr lang="es-ES" dirty="0"/>
          </a:p>
        </p:txBody>
      </p:sp>
    </p:spTree>
    <p:extLst>
      <p:ext uri="{BB962C8B-B14F-4D97-AF65-F5344CB8AC3E}">
        <p14:creationId xmlns:p14="http://schemas.microsoft.com/office/powerpoint/2010/main" val="2894489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1B0FD2C-E1FA-F2A7-563D-D49FF2670818}"/>
              </a:ext>
            </a:extLst>
          </p:cNvPr>
          <p:cNvPicPr>
            <a:picLocks noChangeAspect="1"/>
          </p:cNvPicPr>
          <p:nvPr/>
        </p:nvPicPr>
        <p:blipFill>
          <a:blip r:embed="rId2"/>
          <a:stretch>
            <a:fillRect/>
          </a:stretch>
        </p:blipFill>
        <p:spPr>
          <a:xfrm>
            <a:off x="3113354" y="0"/>
            <a:ext cx="5965292" cy="6858000"/>
          </a:xfrm>
          <a:prstGeom prst="rect">
            <a:avLst/>
          </a:prstGeom>
        </p:spPr>
      </p:pic>
    </p:spTree>
    <p:extLst>
      <p:ext uri="{BB962C8B-B14F-4D97-AF65-F5344CB8AC3E}">
        <p14:creationId xmlns:p14="http://schemas.microsoft.com/office/powerpoint/2010/main" val="3677875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40546A-93EF-B4F8-35B6-E91210342FB1}"/>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8D58BC88-1E46-02E5-64CF-24682AF4C752}"/>
              </a:ext>
            </a:extLst>
          </p:cNvPr>
          <p:cNvSpPr>
            <a:spLocks noGrp="1"/>
          </p:cNvSpPr>
          <p:nvPr>
            <p:ph idx="1"/>
          </p:nvPr>
        </p:nvSpPr>
        <p:spPr/>
        <p:txBody>
          <a:bodyPr/>
          <a:lstStyle/>
          <a:p>
            <a:endParaRPr lang="es-ES"/>
          </a:p>
        </p:txBody>
      </p:sp>
    </p:spTree>
    <p:extLst>
      <p:ext uri="{BB962C8B-B14F-4D97-AF65-F5344CB8AC3E}">
        <p14:creationId xmlns:p14="http://schemas.microsoft.com/office/powerpoint/2010/main" val="3518137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22CA21-520F-8B25-4C25-886C3D1D8921}"/>
              </a:ext>
            </a:extLst>
          </p:cNvPr>
          <p:cNvSpPr>
            <a:spLocks noGrp="1"/>
          </p:cNvSpPr>
          <p:nvPr>
            <p:ph type="title"/>
          </p:nvPr>
        </p:nvSpPr>
        <p:spPr/>
        <p:txBody>
          <a:bodyPr/>
          <a:lstStyle/>
          <a:p>
            <a:r>
              <a:rPr lang="es-ES" dirty="0"/>
              <a:t>Aspectos clave a destacar al comentar los algoritmos</a:t>
            </a:r>
          </a:p>
        </p:txBody>
      </p:sp>
      <p:sp>
        <p:nvSpPr>
          <p:cNvPr id="3" name="Marcador de contenido 2">
            <a:extLst>
              <a:ext uri="{FF2B5EF4-FFF2-40B4-BE49-F238E27FC236}">
                <a16:creationId xmlns:a16="http://schemas.microsoft.com/office/drawing/2014/main" id="{061E6AF0-4FD3-509F-C476-01AA202494B0}"/>
              </a:ext>
            </a:extLst>
          </p:cNvPr>
          <p:cNvSpPr>
            <a:spLocks noGrp="1"/>
          </p:cNvSpPr>
          <p:nvPr>
            <p:ph idx="1"/>
          </p:nvPr>
        </p:nvSpPr>
        <p:spPr/>
        <p:txBody>
          <a:bodyPr>
            <a:normAutofit lnSpcReduction="10000"/>
          </a:bodyPr>
          <a:lstStyle/>
          <a:p>
            <a:pPr marL="0" indent="0">
              <a:buNone/>
            </a:pPr>
            <a:r>
              <a:rPr lang="es-ES" dirty="0">
                <a:latin typeface="Arial" panose="020B0604020202020204" pitchFamily="34" charset="0"/>
                <a:cs typeface="Arial" panose="020B0604020202020204" pitchFamily="34" charset="0"/>
              </a:rPr>
              <a:t>El algoritmo transforma un resultado de cribado en una decisión asistencial.  </a:t>
            </a:r>
          </a:p>
          <a:p>
            <a:r>
              <a:rPr lang="es-ES" dirty="0">
                <a:latin typeface="Arial" panose="020B0604020202020204" pitchFamily="34" charset="0"/>
                <a:cs typeface="Arial" panose="020B0604020202020204" pitchFamily="34" charset="0"/>
              </a:rPr>
              <a:t>Debe reducir la variabilidad interprofesional.  </a:t>
            </a:r>
          </a:p>
          <a:p>
            <a:r>
              <a:rPr lang="es-ES" dirty="0">
                <a:latin typeface="Arial" panose="020B0604020202020204" pitchFamily="34" charset="0"/>
                <a:cs typeface="Arial" panose="020B0604020202020204" pitchFamily="34" charset="0"/>
              </a:rPr>
              <a:t>Debe integrar datos preanalíticos, analíticos y clínicos.  </a:t>
            </a:r>
          </a:p>
          <a:p>
            <a:r>
              <a:rPr lang="es-ES" dirty="0">
                <a:latin typeface="Arial" panose="020B0604020202020204" pitchFamily="34" charset="0"/>
                <a:cs typeface="Arial" panose="020B0604020202020204" pitchFamily="34" charset="0"/>
              </a:rPr>
              <a:t>Debe definir claramente los resultados negativos, dudosos y positivos.  </a:t>
            </a:r>
          </a:p>
          <a:p>
            <a:r>
              <a:rPr lang="es-ES" dirty="0">
                <a:latin typeface="Arial" panose="020B0604020202020204" pitchFamily="34" charset="0"/>
                <a:cs typeface="Arial" panose="020B0604020202020204" pitchFamily="34" charset="0"/>
              </a:rPr>
              <a:t>Debe establecer qué situaciones requieren repetición, nueva muestra, prueba de segundo nivel o derivación inmediata.  </a:t>
            </a:r>
          </a:p>
          <a:p>
            <a:r>
              <a:rPr lang="es-ES" dirty="0">
                <a:latin typeface="Arial" panose="020B0604020202020204" pitchFamily="34" charset="0"/>
                <a:cs typeface="Arial" panose="020B0604020202020204" pitchFamily="34" charset="0"/>
              </a:rPr>
              <a:t>Debe ser revisable a partir de los indicadores del programa y de la experiencia acumulada.</a:t>
            </a:r>
          </a:p>
          <a:p>
            <a:endParaRPr lang="es-ES" dirty="0"/>
          </a:p>
        </p:txBody>
      </p:sp>
    </p:spTree>
    <p:extLst>
      <p:ext uri="{BB962C8B-B14F-4D97-AF65-F5344CB8AC3E}">
        <p14:creationId xmlns:p14="http://schemas.microsoft.com/office/powerpoint/2010/main" val="42345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09C380-C236-9C69-D117-55DC1A2E7FE9}"/>
              </a:ext>
            </a:extLst>
          </p:cNvPr>
          <p:cNvSpPr>
            <a:spLocks noGrp="1"/>
          </p:cNvSpPr>
          <p:nvPr>
            <p:ph type="title"/>
          </p:nvPr>
        </p:nvSpPr>
        <p:spPr/>
        <p:txBody>
          <a:bodyPr/>
          <a:lstStyle/>
          <a:p>
            <a:r>
              <a:rPr lang="es-ES" dirty="0"/>
              <a:t>Comunicación de resultados</a:t>
            </a:r>
          </a:p>
        </p:txBody>
      </p:sp>
      <p:sp>
        <p:nvSpPr>
          <p:cNvPr id="3" name="Marcador de contenido 2">
            <a:extLst>
              <a:ext uri="{FF2B5EF4-FFF2-40B4-BE49-F238E27FC236}">
                <a16:creationId xmlns:a16="http://schemas.microsoft.com/office/drawing/2014/main" id="{F7787A8F-D3F7-D441-53B4-D6CD13D6E211}"/>
              </a:ext>
            </a:extLst>
          </p:cNvPr>
          <p:cNvSpPr>
            <a:spLocks noGrp="1"/>
          </p:cNvSpPr>
          <p:nvPr>
            <p:ph idx="1"/>
          </p:nvPr>
        </p:nvSpPr>
        <p:spPr/>
        <p:txBody>
          <a:bodyPr>
            <a:normAutofit fontScale="55000" lnSpcReduction="20000"/>
          </a:bodyPr>
          <a:lstStyle/>
          <a:p>
            <a:pPr marL="0" indent="0">
              <a:buNone/>
            </a:pPr>
            <a:r>
              <a:rPr lang="es-ES" sz="3300" dirty="0"/>
              <a:t>La comunicación de resultados debe ajustarse a la criticidad del hallazgo:</a:t>
            </a:r>
          </a:p>
          <a:p>
            <a:r>
              <a:rPr lang="es-ES" dirty="0"/>
              <a:t>Los resultados normales siguen el circuito habitual del programa.  </a:t>
            </a:r>
          </a:p>
          <a:p>
            <a:r>
              <a:rPr lang="es-ES" dirty="0"/>
              <a:t>Los resultados dudosos o no concluyentes requieren solicitud rápida de nueva muestra y seguimiento hasta su recepción.  </a:t>
            </a:r>
          </a:p>
          <a:p>
            <a:r>
              <a:rPr lang="es-ES" dirty="0"/>
              <a:t>Los resultados claramente patológicos o altamente sugestivos deben comunicarse de forma urgente, trazable y protocolizada a la unidad clínica responsable.</a:t>
            </a:r>
          </a:p>
          <a:p>
            <a:endParaRPr lang="es-ES" dirty="0"/>
          </a:p>
          <a:p>
            <a:pPr marL="0" indent="0">
              <a:buNone/>
            </a:pPr>
            <a:r>
              <a:rPr lang="es-ES" dirty="0"/>
              <a:t>Es imprescindible registrar:</a:t>
            </a:r>
          </a:p>
          <a:p>
            <a:r>
              <a:rPr lang="es-ES" dirty="0"/>
              <a:t>Fecha y hora de validación.</a:t>
            </a:r>
          </a:p>
          <a:p>
            <a:r>
              <a:rPr lang="es-ES" dirty="0"/>
              <a:t>Fecha y hora de comunicación.  </a:t>
            </a:r>
          </a:p>
          <a:p>
            <a:r>
              <a:rPr lang="es-ES" dirty="0"/>
              <a:t>Profesional receptor. </a:t>
            </a:r>
          </a:p>
          <a:p>
            <a:r>
              <a:rPr lang="es-ES" dirty="0"/>
              <a:t>Necesidad o no de nueva muestra.  </a:t>
            </a:r>
          </a:p>
          <a:p>
            <a:r>
              <a:rPr lang="es-ES" dirty="0"/>
              <a:t>Situación final del caso.</a:t>
            </a:r>
          </a:p>
          <a:p>
            <a:pPr marL="0" indent="0">
              <a:buNone/>
            </a:pPr>
            <a:r>
              <a:rPr lang="es-ES" sz="3300" dirty="0"/>
              <a:t>La trazabilidad </a:t>
            </a:r>
            <a:r>
              <a:rPr lang="es-ES" sz="3300" dirty="0" err="1"/>
              <a:t>postanalítica</a:t>
            </a:r>
            <a:r>
              <a:rPr lang="es-ES" sz="3300" dirty="0"/>
              <a:t> es tan importante como la trazabilidad preanalítica. Un resultado crítico correctamente medido, pero mal comunicado o comunicado tarde, representa un fallo asistencial relevante.</a:t>
            </a:r>
          </a:p>
        </p:txBody>
      </p:sp>
    </p:spTree>
    <p:extLst>
      <p:ext uri="{BB962C8B-B14F-4D97-AF65-F5344CB8AC3E}">
        <p14:creationId xmlns:p14="http://schemas.microsoft.com/office/powerpoint/2010/main" val="2098221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F63BA8-49F8-892E-641D-F9B2699E9EDD}"/>
              </a:ext>
            </a:extLst>
          </p:cNvPr>
          <p:cNvSpPr>
            <a:spLocks noGrp="1"/>
          </p:cNvSpPr>
          <p:nvPr>
            <p:ph type="title"/>
          </p:nvPr>
        </p:nvSpPr>
        <p:spPr/>
        <p:txBody>
          <a:bodyPr/>
          <a:lstStyle/>
          <a:p>
            <a:r>
              <a:rPr lang="es-ES" dirty="0"/>
              <a:t>Cribado positivo no equivale a diagnóstico</a:t>
            </a:r>
          </a:p>
        </p:txBody>
      </p:sp>
      <p:sp>
        <p:nvSpPr>
          <p:cNvPr id="3" name="Marcador de contenido 2">
            <a:extLst>
              <a:ext uri="{FF2B5EF4-FFF2-40B4-BE49-F238E27FC236}">
                <a16:creationId xmlns:a16="http://schemas.microsoft.com/office/drawing/2014/main" id="{151386E5-4DB4-6BB9-F10B-FED017068E7A}"/>
              </a:ext>
            </a:extLst>
          </p:cNvPr>
          <p:cNvSpPr>
            <a:spLocks noGrp="1"/>
          </p:cNvSpPr>
          <p:nvPr>
            <p:ph idx="1"/>
          </p:nvPr>
        </p:nvSpPr>
        <p:spPr/>
        <p:txBody>
          <a:bodyPr>
            <a:noAutofit/>
          </a:bodyPr>
          <a:lstStyle/>
          <a:p>
            <a:pPr marL="0" indent="0">
              <a:buNone/>
            </a:pPr>
            <a:r>
              <a:rPr lang="es-ES" sz="1700" dirty="0">
                <a:latin typeface="Arial" panose="020B0604020202020204" pitchFamily="34" charset="0"/>
                <a:cs typeface="Arial" panose="020B0604020202020204" pitchFamily="34" charset="0"/>
              </a:rPr>
              <a:t>Uno de los principios fundamentales del programa es que un resultado positivo de cribado no constituye un diagnóstico definitivo.</a:t>
            </a:r>
          </a:p>
          <a:p>
            <a:endParaRPr lang="es-ES" sz="1700" dirty="0">
              <a:latin typeface="Arial" panose="020B0604020202020204" pitchFamily="34" charset="0"/>
              <a:cs typeface="Arial" panose="020B0604020202020204" pitchFamily="34" charset="0"/>
            </a:endParaRPr>
          </a:p>
          <a:p>
            <a:pPr marL="0" indent="0">
              <a:buNone/>
            </a:pPr>
            <a:r>
              <a:rPr lang="es-ES" sz="1700" dirty="0">
                <a:latin typeface="Arial" panose="020B0604020202020204" pitchFamily="34" charset="0"/>
                <a:cs typeface="Arial" panose="020B0604020202020204" pitchFamily="34" charset="0"/>
              </a:rPr>
              <a:t>Su significado es el de una alerta de riesgo aumentada que obliga a realizar estudios confirmatorios. Según la enfermedad, la confirmación puede requerir:</a:t>
            </a:r>
          </a:p>
          <a:p>
            <a:r>
              <a:rPr lang="es-ES" sz="1500" dirty="0">
                <a:latin typeface="Arial" panose="020B0604020202020204" pitchFamily="34" charset="0"/>
                <a:cs typeface="Arial" panose="020B0604020202020204" pitchFamily="34" charset="0"/>
              </a:rPr>
              <a:t>Analítica en sangre o plasma. </a:t>
            </a:r>
          </a:p>
          <a:p>
            <a:r>
              <a:rPr lang="es-ES" sz="1500" dirty="0">
                <a:latin typeface="Arial" panose="020B0604020202020204" pitchFamily="34" charset="0"/>
                <a:cs typeface="Arial" panose="020B0604020202020204" pitchFamily="34" charset="0"/>
              </a:rPr>
              <a:t>Estudio urinario.</a:t>
            </a:r>
          </a:p>
          <a:p>
            <a:r>
              <a:rPr lang="es-ES" sz="1500" dirty="0">
                <a:latin typeface="Arial" panose="020B0604020202020204" pitchFamily="34" charset="0"/>
                <a:cs typeface="Arial" panose="020B0604020202020204" pitchFamily="34" charset="0"/>
              </a:rPr>
              <a:t>Técnicas funcionales.  </a:t>
            </a:r>
          </a:p>
          <a:p>
            <a:r>
              <a:rPr lang="es-ES" sz="1500" dirty="0">
                <a:latin typeface="Arial" panose="020B0604020202020204" pitchFamily="34" charset="0"/>
                <a:cs typeface="Arial" panose="020B0604020202020204" pitchFamily="34" charset="0"/>
              </a:rPr>
              <a:t>Confirmación hematológica o proteómica. </a:t>
            </a:r>
          </a:p>
          <a:p>
            <a:r>
              <a:rPr lang="es-ES" sz="1500" dirty="0">
                <a:latin typeface="Arial" panose="020B0604020202020204" pitchFamily="34" charset="0"/>
                <a:cs typeface="Arial" panose="020B0604020202020204" pitchFamily="34" charset="0"/>
              </a:rPr>
              <a:t>Estudio genético.</a:t>
            </a:r>
          </a:p>
          <a:p>
            <a:r>
              <a:rPr lang="es-ES" sz="1500" dirty="0">
                <a:latin typeface="Arial" panose="020B0604020202020204" pitchFamily="34" charset="0"/>
                <a:cs typeface="Arial" panose="020B0604020202020204" pitchFamily="34" charset="0"/>
              </a:rPr>
              <a:t>Valoración por especialistas de referencia.</a:t>
            </a:r>
          </a:p>
          <a:p>
            <a:endParaRPr lang="es-ES" sz="1700" dirty="0">
              <a:latin typeface="Arial" panose="020B0604020202020204" pitchFamily="34" charset="0"/>
              <a:cs typeface="Arial" panose="020B0604020202020204" pitchFamily="34" charset="0"/>
            </a:endParaRPr>
          </a:p>
          <a:p>
            <a:pPr marL="0" indent="0">
              <a:buNone/>
            </a:pPr>
            <a:r>
              <a:rPr lang="es-ES" sz="1700" dirty="0">
                <a:latin typeface="Arial" panose="020B0604020202020204" pitchFamily="34" charset="0"/>
                <a:cs typeface="Arial" panose="020B0604020202020204" pitchFamily="34" charset="0"/>
              </a:rPr>
              <a:t>Esta distinción debe quedar muy clara tanto para los profesionales como para las familias, ya que una comunicación imprecisa puede generar ansiedad innecesaria o interpretaciones erróneas sobre el alcance del hallazgo.</a:t>
            </a:r>
          </a:p>
          <a:p>
            <a:pPr marL="0" indent="0">
              <a:buNone/>
            </a:pPr>
            <a:br>
              <a:rPr lang="es-ES" sz="1700" dirty="0"/>
            </a:br>
            <a:endParaRPr lang="es-ES" sz="1700" dirty="0"/>
          </a:p>
        </p:txBody>
      </p:sp>
    </p:spTree>
    <p:extLst>
      <p:ext uri="{BB962C8B-B14F-4D97-AF65-F5344CB8AC3E}">
        <p14:creationId xmlns:p14="http://schemas.microsoft.com/office/powerpoint/2010/main" val="4084808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6B536-FA7B-71A4-FDC3-C5DD9DC2FCF5}"/>
              </a:ext>
            </a:extLst>
          </p:cNvPr>
          <p:cNvSpPr>
            <a:spLocks noGrp="1"/>
          </p:cNvSpPr>
          <p:nvPr>
            <p:ph type="title"/>
          </p:nvPr>
        </p:nvSpPr>
        <p:spPr/>
        <p:txBody>
          <a:bodyPr/>
          <a:lstStyle/>
          <a:p>
            <a:r>
              <a:rPr lang="es-ES" dirty="0"/>
              <a:t>Papel del servicio de Análisis Clínicos</a:t>
            </a:r>
          </a:p>
        </p:txBody>
      </p:sp>
      <p:sp>
        <p:nvSpPr>
          <p:cNvPr id="3" name="Marcador de contenido 2">
            <a:extLst>
              <a:ext uri="{FF2B5EF4-FFF2-40B4-BE49-F238E27FC236}">
                <a16:creationId xmlns:a16="http://schemas.microsoft.com/office/drawing/2014/main" id="{14B439EB-6F57-379B-A8F3-8E3D875CE967}"/>
              </a:ext>
            </a:extLst>
          </p:cNvPr>
          <p:cNvSpPr>
            <a:spLocks noGrp="1"/>
          </p:cNvSpPr>
          <p:nvPr>
            <p:ph idx="1"/>
          </p:nvPr>
        </p:nvSpPr>
        <p:spPr/>
        <p:txBody>
          <a:bodyPr>
            <a:noAutofit/>
          </a:bodyPr>
          <a:lstStyle/>
          <a:p>
            <a:pPr marL="0" indent="0">
              <a:buNone/>
            </a:pPr>
            <a:r>
              <a:rPr lang="es-ES" sz="1500" dirty="0">
                <a:latin typeface="Arial" panose="020B0604020202020204" pitchFamily="34" charset="0"/>
                <a:cs typeface="Arial" panose="020B0604020202020204" pitchFamily="34" charset="0"/>
              </a:rPr>
              <a:t>El servicio de Análisis Clínicos tiene un papel central en el cribado neonatal, no solo como ejecutor técnico del análisis, sino como responsable de asegurar la robustez del proceso global.</a:t>
            </a:r>
          </a:p>
          <a:p>
            <a:pPr marL="0" indent="0">
              <a:buNone/>
            </a:pPr>
            <a:r>
              <a:rPr lang="es-ES" sz="1500" dirty="0">
                <a:latin typeface="Arial" panose="020B0604020202020204" pitchFamily="34" charset="0"/>
                <a:cs typeface="Arial" panose="020B0604020202020204" pitchFamily="34" charset="0"/>
              </a:rPr>
              <a:t>Sus funciones incluyen:</a:t>
            </a:r>
          </a:p>
          <a:p>
            <a:r>
              <a:rPr lang="es-ES" sz="1300" dirty="0">
                <a:latin typeface="Arial" panose="020B0604020202020204" pitchFamily="34" charset="0"/>
                <a:cs typeface="Arial" panose="020B0604020202020204" pitchFamily="34" charset="0"/>
              </a:rPr>
              <a:t>Estandarización preanalítica.</a:t>
            </a:r>
          </a:p>
          <a:p>
            <a:r>
              <a:rPr lang="es-ES" sz="1300" dirty="0">
                <a:latin typeface="Arial" panose="020B0604020202020204" pitchFamily="34" charset="0"/>
                <a:cs typeface="Arial" panose="020B0604020202020204" pitchFamily="34" charset="0"/>
              </a:rPr>
              <a:t>Control de calidad analítico. </a:t>
            </a:r>
          </a:p>
          <a:p>
            <a:r>
              <a:rPr lang="es-ES" sz="1300" dirty="0">
                <a:latin typeface="Arial" panose="020B0604020202020204" pitchFamily="34" charset="0"/>
                <a:cs typeface="Arial" panose="020B0604020202020204" pitchFamily="34" charset="0"/>
              </a:rPr>
              <a:t>Validación facultativa.  </a:t>
            </a:r>
          </a:p>
          <a:p>
            <a:r>
              <a:rPr lang="es-ES" sz="1300" dirty="0">
                <a:latin typeface="Arial" panose="020B0604020202020204" pitchFamily="34" charset="0"/>
                <a:cs typeface="Arial" panose="020B0604020202020204" pitchFamily="34" charset="0"/>
              </a:rPr>
              <a:t>Definición y revisión de puntos de corte.  </a:t>
            </a:r>
          </a:p>
          <a:p>
            <a:r>
              <a:rPr lang="es-ES" sz="1300" dirty="0">
                <a:latin typeface="Arial" panose="020B0604020202020204" pitchFamily="34" charset="0"/>
                <a:cs typeface="Arial" panose="020B0604020202020204" pitchFamily="34" charset="0"/>
              </a:rPr>
              <a:t>Incorporación de pruebas de segundo nivel. </a:t>
            </a:r>
          </a:p>
          <a:p>
            <a:r>
              <a:rPr lang="es-ES" sz="1300" dirty="0">
                <a:latin typeface="Arial" panose="020B0604020202020204" pitchFamily="34" charset="0"/>
                <a:cs typeface="Arial" panose="020B0604020202020204" pitchFamily="34" charset="0"/>
              </a:rPr>
              <a:t>Desarrollo y actualización de algoritmos.  </a:t>
            </a:r>
          </a:p>
          <a:p>
            <a:r>
              <a:rPr lang="es-ES" sz="1300" dirty="0">
                <a:latin typeface="Arial" panose="020B0604020202020204" pitchFamily="34" charset="0"/>
                <a:cs typeface="Arial" panose="020B0604020202020204" pitchFamily="34" charset="0"/>
              </a:rPr>
              <a:t>Coordinación con unidades clínicas. </a:t>
            </a:r>
          </a:p>
          <a:p>
            <a:r>
              <a:rPr lang="es-ES" sz="1300" dirty="0">
                <a:latin typeface="Arial" panose="020B0604020202020204" pitchFamily="34" charset="0"/>
                <a:cs typeface="Arial" panose="020B0604020202020204" pitchFamily="34" charset="0"/>
              </a:rPr>
              <a:t>Monitorización de indicadores.  </a:t>
            </a:r>
          </a:p>
          <a:p>
            <a:r>
              <a:rPr lang="es-ES" sz="1300" dirty="0">
                <a:latin typeface="Arial" panose="020B0604020202020204" pitchFamily="34" charset="0"/>
                <a:cs typeface="Arial" panose="020B0604020202020204" pitchFamily="34" charset="0"/>
              </a:rPr>
              <a:t>Participación en auditoría y mejora continua.</a:t>
            </a:r>
          </a:p>
          <a:p>
            <a:pPr marL="0" indent="0">
              <a:buNone/>
            </a:pPr>
            <a:endParaRPr lang="es-ES" sz="1500" dirty="0">
              <a:latin typeface="Arial" panose="020B0604020202020204" pitchFamily="34" charset="0"/>
              <a:cs typeface="Arial" panose="020B0604020202020204" pitchFamily="34" charset="0"/>
            </a:endParaRPr>
          </a:p>
          <a:p>
            <a:pPr marL="0" indent="0">
              <a:buNone/>
            </a:pPr>
            <a:r>
              <a:rPr lang="es-ES" sz="1500" dirty="0">
                <a:latin typeface="Arial" panose="020B0604020202020204" pitchFamily="34" charset="0"/>
                <a:cs typeface="Arial" panose="020B0604020202020204" pitchFamily="34" charset="0"/>
              </a:rPr>
              <a:t>En definitiva, el laboratorio es uno de los principales garantes de la calidad, la equidad y la oportunidad diagnóstica del programa.</a:t>
            </a:r>
          </a:p>
          <a:p>
            <a:pPr marL="0" indent="0">
              <a:buNone/>
            </a:pPr>
            <a:endParaRPr lang="es-ES"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069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91A1B32-EB7F-2555-FA4A-863428C8D8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5025" y="362775"/>
            <a:ext cx="6872744" cy="6132449"/>
          </a:xfrm>
          <a:prstGeom prst="rect">
            <a:avLst/>
          </a:prstGeom>
        </p:spPr>
      </p:pic>
    </p:spTree>
    <p:extLst>
      <p:ext uri="{BB962C8B-B14F-4D97-AF65-F5344CB8AC3E}">
        <p14:creationId xmlns:p14="http://schemas.microsoft.com/office/powerpoint/2010/main" val="8244349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28C424-2305-8CDE-0951-D4B7122F8914}"/>
              </a:ext>
            </a:extLst>
          </p:cNvPr>
          <p:cNvSpPr>
            <a:spLocks noGrp="1"/>
          </p:cNvSpPr>
          <p:nvPr>
            <p:ph type="title"/>
          </p:nvPr>
        </p:nvSpPr>
        <p:spPr/>
        <p:txBody>
          <a:bodyPr/>
          <a:lstStyle/>
          <a:p>
            <a:r>
              <a:rPr lang="es-ES" dirty="0"/>
              <a:t>Retos actuales del cribado neonatal en España</a:t>
            </a:r>
          </a:p>
        </p:txBody>
      </p:sp>
      <p:sp>
        <p:nvSpPr>
          <p:cNvPr id="3" name="Marcador de contenido 2">
            <a:extLst>
              <a:ext uri="{FF2B5EF4-FFF2-40B4-BE49-F238E27FC236}">
                <a16:creationId xmlns:a16="http://schemas.microsoft.com/office/drawing/2014/main" id="{742CFCCC-40DB-5E22-B3D6-2740891C2AA5}"/>
              </a:ext>
            </a:extLst>
          </p:cNvPr>
          <p:cNvSpPr>
            <a:spLocks noGrp="1"/>
          </p:cNvSpPr>
          <p:nvPr>
            <p:ph idx="1"/>
          </p:nvPr>
        </p:nvSpPr>
        <p:spPr/>
        <p:txBody>
          <a:bodyPr>
            <a:normAutofit fontScale="77500" lnSpcReduction="20000"/>
          </a:bodyPr>
          <a:lstStyle/>
          <a:p>
            <a:pPr marL="0" indent="0">
              <a:buNone/>
            </a:pPr>
            <a:r>
              <a:rPr lang="es-ES" dirty="0">
                <a:latin typeface="Arial" panose="020B0604020202020204" pitchFamily="34" charset="0"/>
                <a:cs typeface="Arial" panose="020B0604020202020204" pitchFamily="34" charset="0"/>
              </a:rPr>
              <a:t>Entre los principales retos del cribado neonatal en España destacan:</a:t>
            </a:r>
            <a:br>
              <a:rPr lang="es-ES" dirty="0">
                <a:latin typeface="Arial" panose="020B0604020202020204" pitchFamily="34" charset="0"/>
                <a:cs typeface="Arial" panose="020B0604020202020204" pitchFamily="34" charset="0"/>
              </a:rPr>
            </a:br>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Homogeneizar la calidad entre territorios,  </a:t>
            </a:r>
          </a:p>
          <a:p>
            <a:r>
              <a:rPr lang="es-ES" dirty="0">
                <a:latin typeface="Arial" panose="020B0604020202020204" pitchFamily="34" charset="0"/>
                <a:cs typeface="Arial" panose="020B0604020202020204" pitchFamily="34" charset="0"/>
              </a:rPr>
              <a:t>Consolidar la ampliación progresiva del panel,  </a:t>
            </a:r>
          </a:p>
          <a:p>
            <a:r>
              <a:rPr lang="es-ES" dirty="0">
                <a:latin typeface="Arial" panose="020B0604020202020204" pitchFamily="34" charset="0"/>
                <a:cs typeface="Arial" panose="020B0604020202020204" pitchFamily="34" charset="0"/>
              </a:rPr>
              <a:t>Adaptar la organización del laboratorio a nuevas enfermedades y nuevos biomarcadores,  </a:t>
            </a:r>
          </a:p>
          <a:p>
            <a:r>
              <a:rPr lang="es-ES" dirty="0">
                <a:latin typeface="Arial" panose="020B0604020202020204" pitchFamily="34" charset="0"/>
                <a:cs typeface="Arial" panose="020B0604020202020204" pitchFamily="34" charset="0"/>
              </a:rPr>
              <a:t>Integrar herramientas de segundo nivel y técnicas moleculares cuando proceda,  </a:t>
            </a:r>
          </a:p>
          <a:p>
            <a:r>
              <a:rPr lang="es-ES" dirty="0">
                <a:latin typeface="Arial" panose="020B0604020202020204" pitchFamily="34" charset="0"/>
                <a:cs typeface="Arial" panose="020B0604020202020204" pitchFamily="34" charset="0"/>
              </a:rPr>
              <a:t>Mejorar la interoperabilidad de los sistemas de información,  </a:t>
            </a:r>
          </a:p>
          <a:p>
            <a:r>
              <a:rPr lang="es-ES" dirty="0">
                <a:latin typeface="Arial" panose="020B0604020202020204" pitchFamily="34" charset="0"/>
                <a:cs typeface="Arial" panose="020B0604020202020204" pitchFamily="34" charset="0"/>
              </a:rPr>
              <a:t>Reducir repeticiones evitables,  </a:t>
            </a:r>
          </a:p>
          <a:p>
            <a:r>
              <a:rPr lang="es-ES" dirty="0">
                <a:latin typeface="Arial" panose="020B0604020202020204" pitchFamily="34" charset="0"/>
                <a:cs typeface="Arial" panose="020B0604020202020204" pitchFamily="34" charset="0"/>
              </a:rPr>
              <a:t>Reforzar la trazabilidad y la evaluación continua.</a:t>
            </a:r>
          </a:p>
          <a:p>
            <a:pPr marL="0" indent="0">
              <a:buNone/>
            </a:pPr>
            <a:endParaRPr lang="es-ES" dirty="0">
              <a:latin typeface="Arial" panose="020B0604020202020204" pitchFamily="34" charset="0"/>
              <a:cs typeface="Arial" panose="020B0604020202020204" pitchFamily="34" charset="0"/>
            </a:endParaRPr>
          </a:p>
          <a:p>
            <a:pPr marL="0" indent="0">
              <a:buNone/>
            </a:pPr>
            <a:r>
              <a:rPr lang="es-ES" dirty="0">
                <a:latin typeface="Arial" panose="020B0604020202020204" pitchFamily="34" charset="0"/>
                <a:cs typeface="Arial" panose="020B0604020202020204" pitchFamily="34" charset="0"/>
              </a:rPr>
              <a:t>Todos estos retos requieren liderazgo técnico, coordinación interprofesional y una cultura de mejora continua basada en indicadores.</a:t>
            </a:r>
          </a:p>
          <a:p>
            <a:endParaRPr lang="es-ES" dirty="0"/>
          </a:p>
        </p:txBody>
      </p:sp>
    </p:spTree>
    <p:extLst>
      <p:ext uri="{BB962C8B-B14F-4D97-AF65-F5344CB8AC3E}">
        <p14:creationId xmlns:p14="http://schemas.microsoft.com/office/powerpoint/2010/main" val="3059473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D01E603-62D2-3265-5936-08C219B48FFB}"/>
              </a:ext>
            </a:extLst>
          </p:cNvPr>
          <p:cNvPicPr>
            <a:picLocks noChangeAspect="1"/>
          </p:cNvPicPr>
          <p:nvPr/>
        </p:nvPicPr>
        <p:blipFill>
          <a:blip r:embed="rId2"/>
          <a:stretch>
            <a:fillRect/>
          </a:stretch>
        </p:blipFill>
        <p:spPr>
          <a:xfrm>
            <a:off x="1594809" y="151942"/>
            <a:ext cx="9002381" cy="6554115"/>
          </a:xfrm>
          <a:prstGeom prst="rect">
            <a:avLst/>
          </a:prstGeom>
        </p:spPr>
      </p:pic>
    </p:spTree>
    <p:extLst>
      <p:ext uri="{BB962C8B-B14F-4D97-AF65-F5344CB8AC3E}">
        <p14:creationId xmlns:p14="http://schemas.microsoft.com/office/powerpoint/2010/main" val="1830542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FAAB67-1444-3139-FC6D-71AD6992D826}"/>
              </a:ext>
            </a:extLst>
          </p:cNvPr>
          <p:cNvSpPr>
            <a:spLocks noGrp="1"/>
          </p:cNvSpPr>
          <p:nvPr>
            <p:ph type="title"/>
          </p:nvPr>
        </p:nvSpPr>
        <p:spPr/>
        <p:txBody>
          <a:bodyPr/>
          <a:lstStyle/>
          <a:p>
            <a:r>
              <a:rPr lang="es-ES" dirty="0"/>
              <a:t>Conclusiones</a:t>
            </a:r>
          </a:p>
        </p:txBody>
      </p:sp>
      <p:sp>
        <p:nvSpPr>
          <p:cNvPr id="3" name="Marcador de contenido 2">
            <a:extLst>
              <a:ext uri="{FF2B5EF4-FFF2-40B4-BE49-F238E27FC236}">
                <a16:creationId xmlns:a16="http://schemas.microsoft.com/office/drawing/2014/main" id="{AB805692-8FCA-FC94-18DF-26D51C47A933}"/>
              </a:ext>
            </a:extLst>
          </p:cNvPr>
          <p:cNvSpPr>
            <a:spLocks noGrp="1"/>
          </p:cNvSpPr>
          <p:nvPr>
            <p:ph idx="1"/>
          </p:nvPr>
        </p:nvSpPr>
        <p:spPr/>
        <p:txBody>
          <a:bodyPr>
            <a:normAutofit fontScale="62500" lnSpcReduction="20000"/>
          </a:bodyPr>
          <a:lstStyle/>
          <a:p>
            <a:pPr marL="0" indent="0">
              <a:buNone/>
            </a:pPr>
            <a:r>
              <a:rPr lang="es-ES" dirty="0">
                <a:latin typeface="Arial" panose="020B0604020202020204" pitchFamily="34" charset="0"/>
                <a:cs typeface="Arial" panose="020B0604020202020204" pitchFamily="34" charset="0"/>
              </a:rPr>
              <a:t>El cribado neonatal es un programa de salud pública de alta complejidad técnica y organizativa.</a:t>
            </a:r>
          </a:p>
          <a:p>
            <a:pPr marL="0" indent="0">
              <a:buNone/>
            </a:pPr>
            <a:endParaRPr lang="es-ES" dirty="0">
              <a:latin typeface="Arial" panose="020B0604020202020204" pitchFamily="34" charset="0"/>
              <a:cs typeface="Arial" panose="020B0604020202020204" pitchFamily="34" charset="0"/>
            </a:endParaRPr>
          </a:p>
          <a:p>
            <a:pPr marL="0" indent="0">
              <a:buNone/>
            </a:pPr>
            <a:r>
              <a:rPr lang="es-ES" dirty="0">
                <a:latin typeface="Arial" panose="020B0604020202020204" pitchFamily="34" charset="0"/>
                <a:cs typeface="Arial" panose="020B0604020202020204" pitchFamily="34" charset="0"/>
              </a:rPr>
              <a:t>La fase preanalítica es determinante para la calidad real del proceso, ya que condiciona la validez de la muestra, la interpretación del resultado y los tiempos de actuación.</a:t>
            </a:r>
          </a:p>
          <a:p>
            <a:pPr marL="0" indent="0">
              <a:buNone/>
            </a:pPr>
            <a:endParaRPr lang="es-ES" dirty="0">
              <a:latin typeface="Arial" panose="020B0604020202020204" pitchFamily="34" charset="0"/>
              <a:cs typeface="Arial" panose="020B0604020202020204" pitchFamily="34" charset="0"/>
            </a:endParaRPr>
          </a:p>
          <a:p>
            <a:pPr marL="0" indent="0">
              <a:buNone/>
            </a:pPr>
            <a:r>
              <a:rPr lang="es-ES" dirty="0">
                <a:latin typeface="Arial" panose="020B0604020202020204" pitchFamily="34" charset="0"/>
                <a:cs typeface="Arial" panose="020B0604020202020204" pitchFamily="34" charset="0"/>
              </a:rPr>
              <a:t>La fase analítica debe entenderse como un sistema escalonado de cribado, sustentado en métodos validados, control de calidad, puntos de corte apropiados y validación experta.</a:t>
            </a:r>
          </a:p>
          <a:p>
            <a:pPr marL="0" indent="0">
              <a:buNone/>
            </a:pPr>
            <a:endParaRPr lang="es-ES" dirty="0">
              <a:latin typeface="Arial" panose="020B0604020202020204" pitchFamily="34" charset="0"/>
              <a:cs typeface="Arial" panose="020B0604020202020204" pitchFamily="34" charset="0"/>
            </a:endParaRPr>
          </a:p>
          <a:p>
            <a:pPr marL="0" indent="0">
              <a:buNone/>
            </a:pPr>
            <a:r>
              <a:rPr lang="es-ES" dirty="0">
                <a:latin typeface="Arial" panose="020B0604020202020204" pitchFamily="34" charset="0"/>
                <a:cs typeface="Arial" panose="020B0604020202020204" pitchFamily="34" charset="0"/>
              </a:rPr>
              <a:t>La fase </a:t>
            </a:r>
            <a:r>
              <a:rPr lang="es-ES" dirty="0" err="1">
                <a:latin typeface="Arial" panose="020B0604020202020204" pitchFamily="34" charset="0"/>
                <a:cs typeface="Arial" panose="020B0604020202020204" pitchFamily="34" charset="0"/>
              </a:rPr>
              <a:t>postanalítica</a:t>
            </a:r>
            <a:r>
              <a:rPr lang="es-ES" dirty="0">
                <a:latin typeface="Arial" panose="020B0604020202020204" pitchFamily="34" charset="0"/>
                <a:cs typeface="Arial" panose="020B0604020202020204" pitchFamily="34" charset="0"/>
              </a:rPr>
              <a:t> es esencial para transformar un resultado en beneficio clínico, mediante comunicación urgente, confirmación diagnóstica y derivación adecuada.</a:t>
            </a:r>
          </a:p>
          <a:p>
            <a:pPr marL="0" indent="0">
              <a:buNone/>
            </a:pPr>
            <a:br>
              <a:rPr lang="es-ES" dirty="0">
                <a:latin typeface="Arial" panose="020B0604020202020204" pitchFamily="34" charset="0"/>
                <a:cs typeface="Arial" panose="020B0604020202020204" pitchFamily="34" charset="0"/>
              </a:rPr>
            </a:br>
            <a:r>
              <a:rPr lang="es-ES" dirty="0">
                <a:latin typeface="Arial" panose="020B0604020202020204" pitchFamily="34" charset="0"/>
                <a:cs typeface="Arial" panose="020B0604020202020204" pitchFamily="34" charset="0"/>
              </a:rPr>
              <a:t>Desde la perspectiva del servicio de Análisis Clínicos, el cribado neonatal no es solo una prueba de laboratorio, sino un proceso asistencial integrado en el que la calidad depende de la coordinación entre profesionales, de la estandarización de los circuitos y de la evaluación continua de resultados.</a:t>
            </a:r>
          </a:p>
          <a:p>
            <a:pPr marL="0" indent="0">
              <a:buNone/>
            </a:pPr>
            <a:br>
              <a:rPr lang="es-ES" dirty="0"/>
            </a:br>
            <a:endParaRPr lang="es-ES" dirty="0"/>
          </a:p>
        </p:txBody>
      </p:sp>
    </p:spTree>
    <p:extLst>
      <p:ext uri="{BB962C8B-B14F-4D97-AF65-F5344CB8AC3E}">
        <p14:creationId xmlns:p14="http://schemas.microsoft.com/office/powerpoint/2010/main" val="286550813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2288</Words>
  <Application>Microsoft Office PowerPoint</Application>
  <PresentationFormat>Panorámica</PresentationFormat>
  <Paragraphs>188</Paragraphs>
  <Slides>26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26</vt:i4>
      </vt:variant>
    </vt:vector>
  </HeadingPairs>
  <TitlesOfParts>
    <vt:vector size="31" baseType="lpstr">
      <vt:lpstr>Arial</vt:lpstr>
      <vt:lpstr>Calibri</vt:lpstr>
      <vt:lpstr>Calibri Light</vt:lpstr>
      <vt:lpstr>wf_segoe-ui_normal</vt:lpstr>
      <vt:lpstr>Tema de Office</vt:lpstr>
      <vt:lpstr>Rotación de cribado Neonatal</vt:lpstr>
      <vt:lpstr>Indice</vt:lpstr>
      <vt:lpstr>Cribado neonatal: concepto y finalidad</vt:lpstr>
      <vt:lpstr>Marco del programa en España</vt:lpstr>
      <vt:lpstr>Enfermedades incluidas y realidad organizativa</vt:lpstr>
      <vt:lpstr>El cribado neonatal como proceso completo</vt:lpstr>
      <vt:lpstr>Fase preanalítica: relevancia para el laboratorio</vt:lpstr>
      <vt:lpstr>Presentación de PowerPoint</vt:lpstr>
      <vt:lpstr> Toma de muestra</vt:lpstr>
      <vt:lpstr>Identificación inequívoca y trazabilidad</vt:lpstr>
      <vt:lpstr>Información clínica mínima necesaria</vt:lpstr>
      <vt:lpstr>Calidad de la muestra en papel de filtro</vt:lpstr>
      <vt:lpstr>Fase analítica: características generales</vt:lpstr>
      <vt:lpstr>Principales tecnologías analíticas en cribado neonatal</vt:lpstr>
      <vt:lpstr>Tiempo de respuesta del laboratorio</vt:lpstr>
      <vt:lpstr>Repetición analítica y pruebas de segundo nivel</vt:lpstr>
      <vt:lpstr>Presentación de PowerPoint</vt:lpstr>
      <vt:lpstr>Presentación de PowerPoint</vt:lpstr>
      <vt:lpstr>Aspectos clave a destacar al comentar los algoritmos</vt:lpstr>
      <vt:lpstr>Comunicación de resultados</vt:lpstr>
      <vt:lpstr>Cribado positivo no equivale a diagnóstico</vt:lpstr>
      <vt:lpstr>Papel del servicio de Análisis Clínicos</vt:lpstr>
      <vt:lpstr>Presentación de PowerPoint</vt:lpstr>
      <vt:lpstr>Retos actuales del cribado neonatal en España</vt:lpstr>
      <vt:lpstr>Presentación de PowerPoint</vt:lpstr>
      <vt:lpstr>Conclusiones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Rotación de cribado Noenatal</dc:title>
  <dc:creator>Llorente Martin.Elena</dc:creator>
  <cp:lastModifiedBy>Alejandro Rodríguez Calvo</cp:lastModifiedBy>
  <cp:revision>11</cp:revision>
  <dcterms:created xsi:type="dcterms:W3CDTF">2026-03-06T10:42:28Z</dcterms:created>
  <dcterms:modified xsi:type="dcterms:W3CDTF">2026-03-10T18:08:39Z</dcterms:modified>
</cp:coreProperties>
</file>